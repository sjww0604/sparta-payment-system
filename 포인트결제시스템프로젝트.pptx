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ts val="28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Source Han Sans KR"/>
        <a:ea typeface="Source Han Sans KR"/>
        <a:cs typeface="Source Han Sans KR"/>
        <a:sym typeface="Source Han Sans KR"/>
      </a:defRPr>
    </a:lvl1pPr>
    <a:lvl2pPr marL="0" marR="0" indent="457200" algn="l" defTabSz="914400" rtl="0" fontAlgn="auto" latinLnBrk="0" hangingPunct="0">
      <a:lnSpc>
        <a:spcPts val="28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Source Han Sans KR"/>
        <a:ea typeface="Source Han Sans KR"/>
        <a:cs typeface="Source Han Sans KR"/>
        <a:sym typeface="Source Han Sans KR"/>
      </a:defRPr>
    </a:lvl2pPr>
    <a:lvl3pPr marL="0" marR="0" indent="914400" algn="l" defTabSz="914400" rtl="0" fontAlgn="auto" latinLnBrk="0" hangingPunct="0">
      <a:lnSpc>
        <a:spcPts val="28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Source Han Sans KR"/>
        <a:ea typeface="Source Han Sans KR"/>
        <a:cs typeface="Source Han Sans KR"/>
        <a:sym typeface="Source Han Sans KR"/>
      </a:defRPr>
    </a:lvl3pPr>
    <a:lvl4pPr marL="0" marR="0" indent="1371600" algn="l" defTabSz="914400" rtl="0" fontAlgn="auto" latinLnBrk="0" hangingPunct="0">
      <a:lnSpc>
        <a:spcPts val="28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Source Han Sans KR"/>
        <a:ea typeface="Source Han Sans KR"/>
        <a:cs typeface="Source Han Sans KR"/>
        <a:sym typeface="Source Han Sans KR"/>
      </a:defRPr>
    </a:lvl4pPr>
    <a:lvl5pPr marL="0" marR="0" indent="1828800" algn="l" defTabSz="914400" rtl="0" fontAlgn="auto" latinLnBrk="0" hangingPunct="0">
      <a:lnSpc>
        <a:spcPts val="28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Source Han Sans KR"/>
        <a:ea typeface="Source Han Sans KR"/>
        <a:cs typeface="Source Han Sans KR"/>
        <a:sym typeface="Source Han Sans KR"/>
      </a:defRPr>
    </a:lvl5pPr>
    <a:lvl6pPr marL="0" marR="0" indent="2286000" algn="l" defTabSz="914400" rtl="0" fontAlgn="auto" latinLnBrk="0" hangingPunct="0">
      <a:lnSpc>
        <a:spcPts val="28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Source Han Sans KR"/>
        <a:ea typeface="Source Han Sans KR"/>
        <a:cs typeface="Source Han Sans KR"/>
        <a:sym typeface="Source Han Sans KR"/>
      </a:defRPr>
    </a:lvl6pPr>
    <a:lvl7pPr marL="0" marR="0" indent="2743200" algn="l" defTabSz="914400" rtl="0" fontAlgn="auto" latinLnBrk="0" hangingPunct="0">
      <a:lnSpc>
        <a:spcPts val="28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Source Han Sans KR"/>
        <a:ea typeface="Source Han Sans KR"/>
        <a:cs typeface="Source Han Sans KR"/>
        <a:sym typeface="Source Han Sans KR"/>
      </a:defRPr>
    </a:lvl7pPr>
    <a:lvl8pPr marL="0" marR="0" indent="3200400" algn="l" defTabSz="914400" rtl="0" fontAlgn="auto" latinLnBrk="0" hangingPunct="0">
      <a:lnSpc>
        <a:spcPts val="28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Source Han Sans KR"/>
        <a:ea typeface="Source Han Sans KR"/>
        <a:cs typeface="Source Han Sans KR"/>
        <a:sym typeface="Source Han Sans KR"/>
      </a:defRPr>
    </a:lvl8pPr>
    <a:lvl9pPr marL="0" marR="0" indent="3657600" algn="l" defTabSz="914400" rtl="0" fontAlgn="auto" latinLnBrk="0" hangingPunct="0">
      <a:lnSpc>
        <a:spcPts val="28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Source Han Sans KR"/>
        <a:ea typeface="Source Han Sans KR"/>
        <a:cs typeface="Source Han Sans KR"/>
        <a:sym typeface="Source Han Sans K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pple SD 산돌고딕 Neo 일반체"/>
          <a:ea typeface="Apple SD 산돌고딕 Neo 일반체"/>
          <a:cs typeface="Apple SD 산돌고딕 Neo 일반체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lnSpc>
                <a:spcPct val="100000"/>
              </a:lnSpc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3"/>
          <p:cNvSpPr/>
          <p:nvPr/>
        </p:nvSpPr>
        <p:spPr>
          <a:xfrm>
            <a:off x="1402181" y="6830035"/>
            <a:ext cx="4758340" cy="2491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51" y="0"/>
                </a:moveTo>
                <a:lnTo>
                  <a:pt x="18849" y="0"/>
                </a:lnTo>
                <a:cubicBezTo>
                  <a:pt x="19579" y="0"/>
                  <a:pt x="20278" y="1138"/>
                  <a:pt x="20794" y="3163"/>
                </a:cubicBezTo>
                <a:cubicBezTo>
                  <a:pt x="21310" y="5189"/>
                  <a:pt x="21600" y="7936"/>
                  <a:pt x="21600" y="10800"/>
                </a:cubicBezTo>
                <a:cubicBezTo>
                  <a:pt x="21600" y="13664"/>
                  <a:pt x="21310" y="16411"/>
                  <a:pt x="20794" y="18437"/>
                </a:cubicBezTo>
                <a:cubicBezTo>
                  <a:pt x="20278" y="20462"/>
                  <a:pt x="19579" y="21600"/>
                  <a:pt x="18849" y="21600"/>
                </a:cubicBezTo>
                <a:lnTo>
                  <a:pt x="2751" y="21600"/>
                </a:lnTo>
                <a:cubicBezTo>
                  <a:pt x="2021" y="21600"/>
                  <a:pt x="1322" y="20462"/>
                  <a:pt x="806" y="18437"/>
                </a:cubicBezTo>
                <a:cubicBezTo>
                  <a:pt x="290" y="16411"/>
                  <a:pt x="0" y="13664"/>
                  <a:pt x="0" y="10800"/>
                </a:cubicBezTo>
                <a:cubicBezTo>
                  <a:pt x="0" y="7936"/>
                  <a:pt x="290" y="5189"/>
                  <a:pt x="806" y="3163"/>
                </a:cubicBezTo>
                <a:cubicBezTo>
                  <a:pt x="1322" y="1138"/>
                  <a:pt x="2021" y="0"/>
                  <a:pt x="2751" y="0"/>
                </a:cubicBezTo>
                <a:close/>
              </a:path>
            </a:pathLst>
          </a:custGeom>
          <a:solidFill>
            <a:srgbClr val="EB1D26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5" name="AutoShape 5"/>
          <p:cNvSpPr/>
          <p:nvPr/>
        </p:nvSpPr>
        <p:spPr>
          <a:xfrm>
            <a:off x="507221" y="9779778"/>
            <a:ext cx="17273558" cy="1"/>
          </a:xfrm>
          <a:prstGeom prst="line">
            <a:avLst/>
          </a:prstGeom>
          <a:ln>
            <a:solidFill>
              <a:srgbClr val="AFAFAF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6" name="TextBox 6"/>
          <p:cNvSpPr txBox="1"/>
          <p:nvPr/>
        </p:nvSpPr>
        <p:spPr>
          <a:xfrm>
            <a:off x="1402180" y="4092709"/>
            <a:ext cx="11602766" cy="1376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700"/>
              </a:lnSpc>
              <a:defRPr b="1" sz="7600"/>
            </a:lvl1pPr>
          </a:lstStyle>
          <a:p>
            <a:pPr/>
            <a:r>
              <a:t>포인트 결제 시스템 프로젝트</a:t>
            </a:r>
          </a:p>
        </p:txBody>
      </p:sp>
      <p:sp>
        <p:nvSpPr>
          <p:cNvPr id="97" name="TextBox 7"/>
          <p:cNvSpPr txBox="1"/>
          <p:nvPr/>
        </p:nvSpPr>
        <p:spPr>
          <a:xfrm>
            <a:off x="1402181" y="5660047"/>
            <a:ext cx="9254160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00526" indent="-200526">
              <a:buSzPct val="100000"/>
              <a:buChar char="-"/>
              <a:defRPr b="1"/>
            </a:pPr>
            <a:r>
              <a:t>PortOne 기반의 결제 시스템 고도화</a:t>
            </a:r>
          </a:p>
          <a:p>
            <a:pPr marL="200526" indent="-200526">
              <a:buSzPct val="100000"/>
              <a:buChar char="-"/>
              <a:defRPr b="1"/>
            </a:pPr>
            <a:r>
              <a:t>CI / CD를 통한 자동배포 경험</a:t>
            </a:r>
          </a:p>
        </p:txBody>
      </p:sp>
      <p:sp>
        <p:nvSpPr>
          <p:cNvPr id="98" name="TextBox 8"/>
          <p:cNvSpPr txBox="1"/>
          <p:nvPr/>
        </p:nvSpPr>
        <p:spPr>
          <a:xfrm>
            <a:off x="16006762" y="990600"/>
            <a:ext cx="1252539" cy="36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/>
            </a:lvl1pPr>
          </a:lstStyle>
          <a:p>
            <a:pPr/>
            <a:r>
              <a:t>2025.11.27</a:t>
            </a:r>
          </a:p>
        </p:txBody>
      </p:sp>
      <p:sp>
        <p:nvSpPr>
          <p:cNvPr id="99" name="TextBox 9"/>
          <p:cNvSpPr txBox="1"/>
          <p:nvPr/>
        </p:nvSpPr>
        <p:spPr>
          <a:xfrm>
            <a:off x="1789706" y="7006331"/>
            <a:ext cx="3983290" cy="213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>
                <a:solidFill>
                  <a:srgbClr val="F9F3E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defRPr>
            </a:pPr>
            <a:r>
              <a:t>커머스 Spring 1기 2조</a:t>
            </a:r>
          </a:p>
          <a:p>
            <a:pPr algn="ctr">
              <a:defRPr b="1">
                <a:solidFill>
                  <a:srgbClr val="F9F3E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defRPr>
            </a:pPr>
            <a:r>
              <a:t>힘들지만 해낼거라 믿어야조☀️</a:t>
            </a:r>
          </a:p>
          <a:p>
            <a:pPr algn="ctr">
              <a:defRPr b="1">
                <a:solidFill>
                  <a:srgbClr val="F9F3E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defRPr>
            </a:pPr>
            <a:r>
              <a:t>튜터 황원욱</a:t>
            </a:r>
          </a:p>
          <a:p>
            <a:pPr algn="ctr">
              <a:defRPr b="1">
                <a:solidFill>
                  <a:srgbClr val="F9F3E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defRPr>
            </a:pPr>
            <a:r>
              <a:t>서재원</a:t>
            </a:r>
          </a:p>
          <a:p>
            <a:pPr algn="ctr">
              <a:defRPr b="1">
                <a:solidFill>
                  <a:srgbClr val="F9F3E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defRPr>
            </a:pPr>
            <a:r>
              <a:t>주우재</a:t>
            </a:r>
          </a:p>
          <a:p>
            <a:pPr algn="ctr">
              <a:defRPr b="1">
                <a:solidFill>
                  <a:srgbClr val="F9F3E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defRPr>
            </a:pPr>
            <a:r>
              <a:t>오정빈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2"/>
          <p:cNvSpPr txBox="1"/>
          <p:nvPr/>
        </p:nvSpPr>
        <p:spPr>
          <a:xfrm>
            <a:off x="10888257" y="2048913"/>
            <a:ext cx="2209801" cy="77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500"/>
              </a:lnSpc>
              <a:defRPr b="1" sz="3000"/>
            </a:lvl1pPr>
          </a:lstStyle>
          <a:p>
            <a:pPr/>
            <a:r>
              <a:t>프로젝트 개요</a:t>
            </a:r>
          </a:p>
        </p:txBody>
      </p:sp>
      <p:sp>
        <p:nvSpPr>
          <p:cNvPr id="102" name="TextBox 3"/>
          <p:cNvSpPr txBox="1"/>
          <p:nvPr/>
        </p:nvSpPr>
        <p:spPr>
          <a:xfrm>
            <a:off x="10888257" y="3256059"/>
            <a:ext cx="4108760" cy="77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500"/>
              </a:lnSpc>
              <a:defRPr b="1" sz="3000"/>
            </a:lvl1pPr>
          </a:lstStyle>
          <a:p>
            <a:pPr/>
            <a:r>
              <a:t>프로젝트 팀 구성 및 역할</a:t>
            </a:r>
          </a:p>
        </p:txBody>
      </p:sp>
      <p:sp>
        <p:nvSpPr>
          <p:cNvPr id="103" name="Freeform 5"/>
          <p:cNvSpPr/>
          <p:nvPr/>
        </p:nvSpPr>
        <p:spPr>
          <a:xfrm>
            <a:off x="9506095" y="2087325"/>
            <a:ext cx="949972" cy="949972"/>
          </a:xfrm>
          <a:prstGeom prst="ellipse">
            <a:avLst/>
          </a:prstGeom>
          <a:solidFill>
            <a:srgbClr val="EB1D26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Freeform 8"/>
          <p:cNvSpPr/>
          <p:nvPr/>
        </p:nvSpPr>
        <p:spPr>
          <a:xfrm>
            <a:off x="9506095" y="3294471"/>
            <a:ext cx="949972" cy="949972"/>
          </a:xfrm>
          <a:prstGeom prst="ellipse">
            <a:avLst/>
          </a:prstGeom>
          <a:solidFill>
            <a:srgbClr val="EB1D26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TextBox 10"/>
          <p:cNvSpPr txBox="1"/>
          <p:nvPr/>
        </p:nvSpPr>
        <p:spPr>
          <a:xfrm>
            <a:off x="687866" y="1074500"/>
            <a:ext cx="3598075" cy="761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200"/>
              </a:lnSpc>
              <a:defRPr b="1" sz="4500">
                <a:solidFill>
                  <a:srgbClr val="EB1D26"/>
                </a:solidFill>
                <a:latin typeface="Bruno Bold"/>
                <a:ea typeface="Bruno Bold"/>
                <a:cs typeface="Bruno Bold"/>
                <a:sym typeface="Bruno Bold"/>
              </a:defRPr>
            </a:lvl1pPr>
          </a:lstStyle>
          <a:p>
            <a:pPr/>
            <a:r>
              <a:t>CONTENTS</a:t>
            </a:r>
          </a:p>
        </p:txBody>
      </p:sp>
      <p:sp>
        <p:nvSpPr>
          <p:cNvPr id="106" name="TextBox 11"/>
          <p:cNvSpPr txBox="1"/>
          <p:nvPr/>
        </p:nvSpPr>
        <p:spPr>
          <a:xfrm>
            <a:off x="9732725" y="2301482"/>
            <a:ext cx="496715" cy="454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700"/>
              </a:lnSpc>
              <a:defRPr b="1" sz="2700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07" name="TextBox 12"/>
          <p:cNvSpPr txBox="1"/>
          <p:nvPr/>
        </p:nvSpPr>
        <p:spPr>
          <a:xfrm>
            <a:off x="9668840" y="3508629"/>
            <a:ext cx="624484" cy="454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700"/>
              </a:lnSpc>
              <a:defRPr b="1" sz="2700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08" name="TextBox 13"/>
          <p:cNvSpPr txBox="1"/>
          <p:nvPr/>
        </p:nvSpPr>
        <p:spPr>
          <a:xfrm>
            <a:off x="687867" y="606424"/>
            <a:ext cx="2868642" cy="436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b="1" sz="24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결제 시스템  프로젝트</a:t>
            </a:r>
          </a:p>
        </p:txBody>
      </p:sp>
      <p:sp>
        <p:nvSpPr>
          <p:cNvPr id="109" name="AutoShape 14"/>
          <p:cNvSpPr/>
          <p:nvPr/>
        </p:nvSpPr>
        <p:spPr>
          <a:xfrm>
            <a:off x="9981082" y="3032535"/>
            <a:ext cx="6492241" cy="1"/>
          </a:xfrm>
          <a:prstGeom prst="line">
            <a:avLst/>
          </a:prstGeom>
          <a:ln>
            <a:solidFill>
              <a:srgbClr val="EB1D26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AutoShape 15"/>
          <p:cNvSpPr/>
          <p:nvPr/>
        </p:nvSpPr>
        <p:spPr>
          <a:xfrm>
            <a:off x="9981082" y="4239681"/>
            <a:ext cx="6492241" cy="1"/>
          </a:xfrm>
          <a:prstGeom prst="line">
            <a:avLst/>
          </a:prstGeom>
          <a:ln>
            <a:solidFill>
              <a:srgbClr val="EB1D26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TextBox 16"/>
          <p:cNvSpPr txBox="1"/>
          <p:nvPr/>
        </p:nvSpPr>
        <p:spPr>
          <a:xfrm>
            <a:off x="10888257" y="4463207"/>
            <a:ext cx="4977835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500"/>
              </a:lnSpc>
              <a:defRPr b="1" sz="3000"/>
            </a:lvl1pPr>
          </a:lstStyle>
          <a:p>
            <a:pPr/>
            <a:r>
              <a:t>프로젝트 수행 절차 및 타임라인</a:t>
            </a:r>
          </a:p>
        </p:txBody>
      </p:sp>
      <p:sp>
        <p:nvSpPr>
          <p:cNvPr id="112" name="Freeform 18"/>
          <p:cNvSpPr/>
          <p:nvPr/>
        </p:nvSpPr>
        <p:spPr>
          <a:xfrm>
            <a:off x="9506095" y="4501619"/>
            <a:ext cx="949972" cy="949972"/>
          </a:xfrm>
          <a:prstGeom prst="ellipse">
            <a:avLst/>
          </a:prstGeom>
          <a:solidFill>
            <a:srgbClr val="EB1D26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3" name="TextBox 20"/>
          <p:cNvSpPr txBox="1"/>
          <p:nvPr/>
        </p:nvSpPr>
        <p:spPr>
          <a:xfrm>
            <a:off x="9665751" y="4715776"/>
            <a:ext cx="630660" cy="454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700"/>
              </a:lnSpc>
              <a:defRPr b="1" sz="2700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14" name="AutoShape 21"/>
          <p:cNvSpPr/>
          <p:nvPr/>
        </p:nvSpPr>
        <p:spPr>
          <a:xfrm>
            <a:off x="9981082" y="5446826"/>
            <a:ext cx="6492241" cy="1"/>
          </a:xfrm>
          <a:prstGeom prst="line">
            <a:avLst/>
          </a:prstGeom>
          <a:ln>
            <a:solidFill>
              <a:srgbClr val="EB1D26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TextBox 22"/>
          <p:cNvSpPr txBox="1"/>
          <p:nvPr/>
        </p:nvSpPr>
        <p:spPr>
          <a:xfrm>
            <a:off x="10888257" y="5670353"/>
            <a:ext cx="4108760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500"/>
              </a:lnSpc>
              <a:defRPr b="1" sz="3000"/>
            </a:lvl1pPr>
          </a:lstStyle>
          <a:p>
            <a:pPr/>
            <a:r>
              <a:t>트러블슈팅</a:t>
            </a:r>
          </a:p>
        </p:txBody>
      </p:sp>
      <p:sp>
        <p:nvSpPr>
          <p:cNvPr id="116" name="Freeform 24"/>
          <p:cNvSpPr/>
          <p:nvPr/>
        </p:nvSpPr>
        <p:spPr>
          <a:xfrm>
            <a:off x="9506095" y="5708765"/>
            <a:ext cx="949972" cy="949972"/>
          </a:xfrm>
          <a:prstGeom prst="ellipse">
            <a:avLst/>
          </a:prstGeom>
          <a:solidFill>
            <a:srgbClr val="EB1D26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7" name="TextBox 26"/>
          <p:cNvSpPr txBox="1"/>
          <p:nvPr/>
        </p:nvSpPr>
        <p:spPr>
          <a:xfrm>
            <a:off x="9658497" y="5922922"/>
            <a:ext cx="645171" cy="454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700"/>
              </a:lnSpc>
              <a:defRPr b="1" sz="2700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18" name="AutoShape 27"/>
          <p:cNvSpPr/>
          <p:nvPr/>
        </p:nvSpPr>
        <p:spPr>
          <a:xfrm>
            <a:off x="9981082" y="6653974"/>
            <a:ext cx="6492241" cy="1"/>
          </a:xfrm>
          <a:prstGeom prst="line">
            <a:avLst/>
          </a:prstGeom>
          <a:ln>
            <a:solidFill>
              <a:srgbClr val="EB1D26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TextBox 28"/>
          <p:cNvSpPr txBox="1"/>
          <p:nvPr/>
        </p:nvSpPr>
        <p:spPr>
          <a:xfrm>
            <a:off x="10888257" y="6877498"/>
            <a:ext cx="4285110" cy="748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500"/>
              </a:lnSpc>
              <a:defRPr b="1" sz="3000"/>
            </a:lvl1pPr>
          </a:lstStyle>
          <a:p>
            <a:pPr/>
            <a:r>
              <a:t>Lesson Learned</a:t>
            </a:r>
          </a:p>
        </p:txBody>
      </p:sp>
      <p:sp>
        <p:nvSpPr>
          <p:cNvPr id="120" name="Freeform 30"/>
          <p:cNvSpPr/>
          <p:nvPr/>
        </p:nvSpPr>
        <p:spPr>
          <a:xfrm>
            <a:off x="9506095" y="6915910"/>
            <a:ext cx="949972" cy="949972"/>
          </a:xfrm>
          <a:prstGeom prst="ellipse">
            <a:avLst/>
          </a:prstGeom>
          <a:solidFill>
            <a:srgbClr val="EB1D26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TextBox 32"/>
          <p:cNvSpPr txBox="1"/>
          <p:nvPr/>
        </p:nvSpPr>
        <p:spPr>
          <a:xfrm>
            <a:off x="9667129" y="7130067"/>
            <a:ext cx="627907" cy="454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700"/>
              </a:lnSpc>
              <a:defRPr b="1" sz="2700">
                <a:solidFill>
                  <a:srgbClr val="FAFAFA"/>
                </a:solidFill>
                <a:latin typeface="Bruno"/>
                <a:ea typeface="Bruno"/>
                <a:cs typeface="Bruno"/>
                <a:sym typeface="Bruno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22" name="AutoShape 33"/>
          <p:cNvSpPr/>
          <p:nvPr/>
        </p:nvSpPr>
        <p:spPr>
          <a:xfrm>
            <a:off x="9981082" y="7861120"/>
            <a:ext cx="6492241" cy="1"/>
          </a:xfrm>
          <a:prstGeom prst="line">
            <a:avLst/>
          </a:prstGeom>
          <a:ln>
            <a:solidFill>
              <a:srgbClr val="EB1D26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AutoShape 2"/>
          <p:cNvSpPr/>
          <p:nvPr/>
        </p:nvSpPr>
        <p:spPr>
          <a:xfrm>
            <a:off x="507221" y="9779778"/>
            <a:ext cx="17273558" cy="1"/>
          </a:xfrm>
          <a:prstGeom prst="line">
            <a:avLst/>
          </a:prstGeom>
          <a:ln>
            <a:solidFill>
              <a:srgbClr val="AFAFAF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5" name="Freeform 6"/>
          <p:cNvSpPr/>
          <p:nvPr/>
        </p:nvSpPr>
        <p:spPr>
          <a:xfrm>
            <a:off x="5181737" y="3804307"/>
            <a:ext cx="1228202" cy="653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743" y="0"/>
                </a:moveTo>
                <a:lnTo>
                  <a:pt x="15857" y="0"/>
                </a:lnTo>
                <a:cubicBezTo>
                  <a:pt x="19029" y="0"/>
                  <a:pt x="21600" y="4835"/>
                  <a:pt x="21600" y="10800"/>
                </a:cubicBezTo>
                <a:cubicBezTo>
                  <a:pt x="21600" y="13664"/>
                  <a:pt x="20995" y="16411"/>
                  <a:pt x="19918" y="18437"/>
                </a:cubicBezTo>
                <a:cubicBezTo>
                  <a:pt x="18841" y="20462"/>
                  <a:pt x="17380" y="21600"/>
                  <a:pt x="15857" y="21600"/>
                </a:cubicBezTo>
                <a:lnTo>
                  <a:pt x="5743" y="21600"/>
                </a:lnTo>
                <a:cubicBezTo>
                  <a:pt x="2571" y="21600"/>
                  <a:pt x="0" y="16765"/>
                  <a:pt x="0" y="10800"/>
                </a:cubicBezTo>
                <a:cubicBezTo>
                  <a:pt x="0" y="4835"/>
                  <a:pt x="2571" y="0"/>
                  <a:pt x="5743" y="0"/>
                </a:cubicBezTo>
                <a:close/>
              </a:path>
            </a:pathLst>
          </a:custGeom>
          <a:solidFill>
            <a:srgbClr val="EB1D26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Freeform 9"/>
          <p:cNvSpPr/>
          <p:nvPr/>
        </p:nvSpPr>
        <p:spPr>
          <a:xfrm>
            <a:off x="8564170" y="3795797"/>
            <a:ext cx="1228202" cy="653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743" y="0"/>
                </a:moveTo>
                <a:lnTo>
                  <a:pt x="15857" y="0"/>
                </a:lnTo>
                <a:cubicBezTo>
                  <a:pt x="19029" y="0"/>
                  <a:pt x="21600" y="4835"/>
                  <a:pt x="21600" y="10800"/>
                </a:cubicBezTo>
                <a:cubicBezTo>
                  <a:pt x="21600" y="13664"/>
                  <a:pt x="20995" y="16411"/>
                  <a:pt x="19918" y="18437"/>
                </a:cubicBezTo>
                <a:cubicBezTo>
                  <a:pt x="18841" y="20462"/>
                  <a:pt x="17380" y="21600"/>
                  <a:pt x="15857" y="21600"/>
                </a:cubicBezTo>
                <a:lnTo>
                  <a:pt x="5743" y="21600"/>
                </a:lnTo>
                <a:cubicBezTo>
                  <a:pt x="2571" y="21600"/>
                  <a:pt x="0" y="16765"/>
                  <a:pt x="0" y="10800"/>
                </a:cubicBezTo>
                <a:cubicBezTo>
                  <a:pt x="0" y="4835"/>
                  <a:pt x="2571" y="0"/>
                  <a:pt x="5743" y="0"/>
                </a:cubicBezTo>
                <a:close/>
              </a:path>
            </a:pathLst>
          </a:custGeom>
          <a:solidFill>
            <a:srgbClr val="EB1D26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7" name="Freeform 12"/>
          <p:cNvSpPr/>
          <p:nvPr/>
        </p:nvSpPr>
        <p:spPr>
          <a:xfrm>
            <a:off x="11946603" y="3787287"/>
            <a:ext cx="1228202" cy="653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743" y="0"/>
                </a:moveTo>
                <a:lnTo>
                  <a:pt x="15857" y="0"/>
                </a:lnTo>
                <a:cubicBezTo>
                  <a:pt x="19029" y="0"/>
                  <a:pt x="21600" y="4835"/>
                  <a:pt x="21600" y="10800"/>
                </a:cubicBezTo>
                <a:cubicBezTo>
                  <a:pt x="21600" y="13664"/>
                  <a:pt x="20995" y="16411"/>
                  <a:pt x="19918" y="18437"/>
                </a:cubicBezTo>
                <a:cubicBezTo>
                  <a:pt x="18841" y="20462"/>
                  <a:pt x="17380" y="21600"/>
                  <a:pt x="15857" y="21600"/>
                </a:cubicBezTo>
                <a:lnTo>
                  <a:pt x="5743" y="21600"/>
                </a:lnTo>
                <a:cubicBezTo>
                  <a:pt x="2571" y="21600"/>
                  <a:pt x="0" y="16765"/>
                  <a:pt x="0" y="10800"/>
                </a:cubicBezTo>
                <a:cubicBezTo>
                  <a:pt x="0" y="4835"/>
                  <a:pt x="2571" y="0"/>
                  <a:pt x="5743" y="0"/>
                </a:cubicBezTo>
                <a:close/>
              </a:path>
            </a:pathLst>
          </a:custGeom>
          <a:solidFill>
            <a:srgbClr val="EB1D26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8" name="Freeform 14"/>
          <p:cNvSpPr/>
          <p:nvPr/>
        </p:nvSpPr>
        <p:spPr>
          <a:xfrm>
            <a:off x="12183672" y="4889484"/>
            <a:ext cx="754063" cy="65946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Freeform 15"/>
          <p:cNvSpPr/>
          <p:nvPr/>
        </p:nvSpPr>
        <p:spPr>
          <a:xfrm>
            <a:off x="5388821" y="4801557"/>
            <a:ext cx="814034" cy="86935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0" name="Freeform 16"/>
          <p:cNvSpPr/>
          <p:nvPr/>
        </p:nvSpPr>
        <p:spPr>
          <a:xfrm>
            <a:off x="8745613" y="4827566"/>
            <a:ext cx="794953" cy="78329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1" name="TextBox 18"/>
          <p:cNvSpPr txBox="1"/>
          <p:nvPr/>
        </p:nvSpPr>
        <p:spPr>
          <a:xfrm>
            <a:off x="5571405" y="3826076"/>
            <a:ext cx="448867" cy="51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b="1" sz="3000">
                <a:solidFill>
                  <a:srgbClr val="F9F3E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32" name="TextBox 19"/>
          <p:cNvSpPr txBox="1"/>
          <p:nvPr/>
        </p:nvSpPr>
        <p:spPr>
          <a:xfrm>
            <a:off x="8918656" y="3809056"/>
            <a:ext cx="448867" cy="51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b="1" sz="3000">
                <a:solidFill>
                  <a:srgbClr val="F9F3E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33" name="TextBox 20"/>
          <p:cNvSpPr txBox="1"/>
          <p:nvPr/>
        </p:nvSpPr>
        <p:spPr>
          <a:xfrm>
            <a:off x="12336271" y="3809056"/>
            <a:ext cx="448867" cy="514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defRPr b="1" sz="3000">
                <a:solidFill>
                  <a:srgbClr val="F9F3E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34" name="TextBox 21"/>
          <p:cNvSpPr txBox="1"/>
          <p:nvPr/>
        </p:nvSpPr>
        <p:spPr>
          <a:xfrm>
            <a:off x="4430591" y="5975712"/>
            <a:ext cx="2730493" cy="107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4200"/>
              </a:lnSpc>
              <a:defRPr b="1" sz="3000"/>
            </a:pPr>
            <a:r>
              <a:t>실 결제 </a:t>
            </a:r>
          </a:p>
          <a:p>
            <a:pPr algn="ctr">
              <a:lnSpc>
                <a:spcPts val="4200"/>
              </a:lnSpc>
              <a:defRPr b="1" sz="3000"/>
            </a:pPr>
            <a:r>
              <a:t>시스템 연동</a:t>
            </a:r>
          </a:p>
        </p:txBody>
      </p:sp>
      <p:sp>
        <p:nvSpPr>
          <p:cNvPr id="135" name="TextBox 22"/>
          <p:cNvSpPr txBox="1"/>
          <p:nvPr/>
        </p:nvSpPr>
        <p:spPr>
          <a:xfrm>
            <a:off x="7658237" y="5998004"/>
            <a:ext cx="2971527" cy="1074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4200"/>
              </a:lnSpc>
              <a:defRPr b="1" sz="3000"/>
            </a:pPr>
            <a:r>
              <a:t>비즈니스 </a:t>
            </a:r>
          </a:p>
          <a:p>
            <a:pPr algn="ctr">
              <a:lnSpc>
                <a:spcPts val="4200"/>
              </a:lnSpc>
              <a:defRPr b="1" sz="3000"/>
            </a:pPr>
            <a:r>
              <a:t>로직 구조화</a:t>
            </a:r>
          </a:p>
        </p:txBody>
      </p:sp>
      <p:sp>
        <p:nvSpPr>
          <p:cNvPr id="136" name="TextBox 23"/>
          <p:cNvSpPr txBox="1"/>
          <p:nvPr/>
        </p:nvSpPr>
        <p:spPr>
          <a:xfrm>
            <a:off x="10658866" y="5958692"/>
            <a:ext cx="3803676" cy="107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4200"/>
              </a:lnSpc>
              <a:defRPr b="1" sz="3000"/>
            </a:pPr>
            <a:r>
              <a:t>CI/CD를 </a:t>
            </a:r>
          </a:p>
          <a:p>
            <a:pPr algn="ctr">
              <a:lnSpc>
                <a:spcPts val="4200"/>
              </a:lnSpc>
              <a:defRPr b="1" sz="3000"/>
            </a:pPr>
            <a:r>
              <a:t>통한 자동화</a:t>
            </a:r>
          </a:p>
        </p:txBody>
      </p:sp>
      <p:sp>
        <p:nvSpPr>
          <p:cNvPr id="137" name="TextBox 25"/>
          <p:cNvSpPr txBox="1"/>
          <p:nvPr/>
        </p:nvSpPr>
        <p:spPr>
          <a:xfrm>
            <a:off x="654049" y="1084025"/>
            <a:ext cx="4633021" cy="801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200"/>
              </a:lnSpc>
              <a:defRPr b="1" sz="45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프로젝트 개요</a:t>
            </a:r>
          </a:p>
        </p:txBody>
      </p:sp>
      <p:sp>
        <p:nvSpPr>
          <p:cNvPr id="138" name="TextBox 26"/>
          <p:cNvSpPr txBox="1"/>
          <p:nvPr/>
        </p:nvSpPr>
        <p:spPr>
          <a:xfrm>
            <a:off x="687867" y="606424"/>
            <a:ext cx="2971526" cy="436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b="1" sz="24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결제 시스템 프로젝트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AutoShape 2"/>
          <p:cNvSpPr/>
          <p:nvPr/>
        </p:nvSpPr>
        <p:spPr>
          <a:xfrm>
            <a:off x="507221" y="9779778"/>
            <a:ext cx="17273558" cy="1"/>
          </a:xfrm>
          <a:prstGeom prst="line">
            <a:avLst/>
          </a:prstGeom>
          <a:ln>
            <a:solidFill>
              <a:srgbClr val="AFAFAF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1" name="TextBox 10"/>
          <p:cNvSpPr txBox="1"/>
          <p:nvPr/>
        </p:nvSpPr>
        <p:spPr>
          <a:xfrm>
            <a:off x="654049" y="1084026"/>
            <a:ext cx="5988245" cy="801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200"/>
              </a:lnSpc>
              <a:defRPr b="1" sz="45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프로젝트 팀 구성 및 역할</a:t>
            </a:r>
          </a:p>
        </p:txBody>
      </p:sp>
      <p:sp>
        <p:nvSpPr>
          <p:cNvPr id="142" name="TextBox 26"/>
          <p:cNvSpPr txBox="1"/>
          <p:nvPr/>
        </p:nvSpPr>
        <p:spPr>
          <a:xfrm>
            <a:off x="687867" y="606425"/>
            <a:ext cx="2971526" cy="4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b="1" sz="24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결제 시스템 프로젝트</a:t>
            </a:r>
          </a:p>
        </p:txBody>
      </p:sp>
      <p:graphicFrame>
        <p:nvGraphicFramePr>
          <p:cNvPr id="143" name="표 1"/>
          <p:cNvGraphicFramePr/>
          <p:nvPr/>
        </p:nvGraphicFramePr>
        <p:xfrm>
          <a:off x="1688325" y="2826263"/>
          <a:ext cx="14261785" cy="518180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{33BA23B1-9221-436E-865A-0063620EA4FD}</a:tableStyleId>
              </a:tblPr>
              <a:tblGrid>
                <a:gridCol w="1616915"/>
                <a:gridCol w="3039383"/>
                <a:gridCol w="9592785"/>
              </a:tblGrid>
              <a:tr h="49918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이름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역할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담당 업무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</a:tcPr>
                </a:tc>
              </a:tr>
              <a:tr h="103382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황원욱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튜터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- SA 피드백 - 질의 응답 및 기술 관련 피드백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</a:tcPr>
                </a:tc>
              </a:tr>
              <a:tr h="103382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서재원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리더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180473" indent="-180473" algn="just">
                        <a:buSzPct val="100000"/>
                        <a:buChar char="-"/>
                        <a:defRPr sz="1800"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defRPr>
                      </a:pPr>
                      <a:r>
                        <a:t>결제 완료 / 취소 간 후처리 기능 구현</a:t>
                      </a:r>
                    </a:p>
                    <a:p>
                      <a:pPr marL="180473" indent="-180473" algn="just">
                        <a:buSzPct val="100000"/>
                        <a:buChar char="-"/>
                        <a:defRPr sz="1800"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defRPr>
                      </a:pPr>
                      <a:r>
                        <a:t>발표자료 초안 제작</a:t>
                      </a:r>
                    </a:p>
                    <a:p>
                      <a:pPr marL="180473" indent="-180473" algn="just">
                        <a:buSzPct val="100000"/>
                        <a:buChar char="-"/>
                        <a:defRPr sz="1800"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defRPr>
                      </a:pPr>
                      <a:r>
                        <a:t>README 작성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</a:tcPr>
                </a:tc>
              </a:tr>
              <a:tr h="103382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주우재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팀원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- 프론트엔드 화면 자체제작 - 주문 생성 및 조회 기능 구현
- 전역 예외처리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</a:tcPr>
                </a:tc>
              </a:tr>
              <a:tr h="103382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오정빈</a:t>
                      </a:r>
                    </a:p>
                  </a:txBody>
                  <a:tcPr marL="0" marR="0" marT="0" marB="0" anchor="ctr" anchorCtr="0" horzOverflow="overflow"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팀원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>
                          <a:latin typeface="Apple SD 산돌고딕 Neo 볼드체"/>
                          <a:ea typeface="Apple SD 산돌고딕 Neo 볼드체"/>
                          <a:cs typeface="Apple SD 산돌고딕 Neo 볼드체"/>
                          <a:sym typeface="Apple SD 산돌고딕 Neo 볼드체"/>
                        </a:rPr>
                        <a:t>- JWT 인증/인가 기능 구현 - 사용자 로그인/회원가입/토큰 갱신/로그아웃 기능 구현</a:t>
                      </a:r>
                    </a:p>
                  </a:txBody>
                  <a:tcPr marL="0" marR="0" marT="0" marB="0" anchor="ctr" anchorCtr="0" horzOverflow="overflow">
                    <a:lnL w="12700">
                      <a:miter lim="400000"/>
                    </a:lnL>
                  </a:tcPr>
                </a:tc>
              </a:tr>
            </a:tbl>
          </a:graphicData>
        </a:graphic>
      </p:graphicFrame>
      <p:sp>
        <p:nvSpPr>
          <p:cNvPr id="144" name="공통 진행사항…"/>
          <p:cNvSpPr txBox="1"/>
          <p:nvPr/>
        </p:nvSpPr>
        <p:spPr>
          <a:xfrm>
            <a:off x="1646241" y="7551471"/>
            <a:ext cx="2921883" cy="1518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/>
            </a:pPr>
            <a:r>
              <a:t>공통 진행사항</a:t>
            </a:r>
          </a:p>
          <a:p>
            <a:pPr marL="200526" indent="-200526">
              <a:buSzPct val="100000"/>
              <a:buChar char="-"/>
              <a:defRPr b="1"/>
            </a:pPr>
            <a:r>
              <a:t>비즈니스 로직 플로우 설계</a:t>
            </a:r>
          </a:p>
          <a:p>
            <a:pPr marL="200526" indent="-200526">
              <a:buSzPct val="100000"/>
              <a:buChar char="-"/>
              <a:defRPr b="1"/>
            </a:pPr>
            <a:r>
              <a:t>ERD 설계 및 Entity 구현</a:t>
            </a:r>
          </a:p>
          <a:p>
            <a:pPr marL="200526" indent="-200526">
              <a:buSzPct val="100000"/>
              <a:buChar char="-"/>
              <a:defRPr b="1"/>
            </a:pPr>
            <a:r>
              <a:t>CI / CD 구현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AutoShape 2"/>
          <p:cNvSpPr/>
          <p:nvPr/>
        </p:nvSpPr>
        <p:spPr>
          <a:xfrm>
            <a:off x="507221" y="9779778"/>
            <a:ext cx="17273558" cy="1"/>
          </a:xfrm>
          <a:prstGeom prst="line">
            <a:avLst/>
          </a:prstGeom>
          <a:ln>
            <a:solidFill>
              <a:srgbClr val="AFAFAF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7" name="TextBox 25"/>
          <p:cNvSpPr txBox="1"/>
          <p:nvPr/>
        </p:nvSpPr>
        <p:spPr>
          <a:xfrm>
            <a:off x="654049" y="1084025"/>
            <a:ext cx="6402903" cy="801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200"/>
              </a:lnSpc>
              <a:defRPr b="1" sz="45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개발도구 및 기술스택</a:t>
            </a:r>
          </a:p>
        </p:txBody>
      </p:sp>
      <p:sp>
        <p:nvSpPr>
          <p:cNvPr id="148" name="TextBox 26"/>
          <p:cNvSpPr txBox="1"/>
          <p:nvPr/>
        </p:nvSpPr>
        <p:spPr>
          <a:xfrm>
            <a:off x="687867" y="606425"/>
            <a:ext cx="2971526" cy="4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b="1" sz="24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결제 시스템 프로젝트</a:t>
            </a:r>
          </a:p>
        </p:txBody>
      </p:sp>
      <p:sp>
        <p:nvSpPr>
          <p:cNvPr id="149" name="🔧 Backend…"/>
          <p:cNvSpPr txBox="1"/>
          <p:nvPr/>
        </p:nvSpPr>
        <p:spPr>
          <a:xfrm>
            <a:off x="1229927" y="2148347"/>
            <a:ext cx="10173378" cy="7083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00000"/>
              </a:lnSpc>
              <a:defRPr sz="25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🔧 Backend</a:t>
            </a:r>
            <a:endParaRPr>
              <a:latin typeface="Apple SD 산돌고딕 Neo 일반체"/>
              <a:ea typeface="Apple SD 산돌고딕 Neo 일반체"/>
              <a:cs typeface="Apple SD 산돌고딕 Neo 일반체"/>
              <a:sym typeface="Apple SD 산돌고딕 Neo 일반체"/>
            </a:endParaR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>
              <a:lnSpc>
                <a:spcPct val="100000"/>
              </a:lnSpc>
              <a:spcBef>
                <a:spcPts val="400"/>
              </a:spcBef>
              <a:defRPr sz="25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Java 17 · Spring Boot 3.x · WebFlux · JPA · Security · JWT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>
              <a:lnSpc>
                <a:spcPct val="100000"/>
              </a:lnSpc>
              <a:defRPr sz="25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🗄 Database</a:t>
            </a:r>
            <a:endParaRPr>
              <a:latin typeface="Apple SD 산돌고딕 Neo 일반체"/>
              <a:ea typeface="Apple SD 산돌고딕 Neo 일반체"/>
              <a:cs typeface="Apple SD 산돌고딕 Neo 일반체"/>
              <a:sym typeface="Apple SD 산돌고딕 Neo 일반체"/>
            </a:endParaR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>
              <a:lnSpc>
                <a:spcPct val="100000"/>
              </a:lnSpc>
              <a:spcBef>
                <a:spcPts val="400"/>
              </a:spcBef>
              <a:defRPr sz="25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MySQL 8.0 · Hibernate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>
              <a:lnSpc>
                <a:spcPct val="100000"/>
              </a:lnSpc>
              <a:defRPr sz="25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☁️ CI/CD 활용 툴</a:t>
            </a:r>
            <a:endParaRPr>
              <a:latin typeface="Apple SD 산돌고딕 Neo 일반체"/>
              <a:ea typeface="Apple SD 산돌고딕 Neo 일반체"/>
              <a:cs typeface="Apple SD 산돌고딕 Neo 일반체"/>
              <a:sym typeface="Apple SD 산돌고딕 Neo 일반체"/>
            </a:endParaR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>
              <a:lnSpc>
                <a:spcPct val="100000"/>
              </a:lnSpc>
              <a:spcBef>
                <a:spcPts val="400"/>
              </a:spcBef>
              <a:defRPr sz="25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AWS EC2 · S3 · GitHub Actions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>
              <a:lnSpc>
                <a:spcPct val="100000"/>
              </a:lnSpc>
              <a:defRPr sz="25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💳 외부 API</a:t>
            </a:r>
            <a:endParaRPr>
              <a:latin typeface="Apple SD 산돌고딕 Neo 일반체"/>
              <a:ea typeface="Apple SD 산돌고딕 Neo 일반체"/>
              <a:cs typeface="Apple SD 산돌고딕 Neo 일반체"/>
              <a:sym typeface="Apple SD 산돌고딕 Neo 일반체"/>
            </a:endParaR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>
              <a:lnSpc>
                <a:spcPct val="100000"/>
              </a:lnSpc>
              <a:spcBef>
                <a:spcPts val="400"/>
              </a:spcBef>
              <a:defRPr sz="25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PortOne Payments API v2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>
              <a:lnSpc>
                <a:spcPct val="100000"/>
              </a:lnSpc>
              <a:defRPr sz="25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🧰 Tools</a:t>
            </a:r>
            <a:endParaRPr>
              <a:latin typeface="Apple SD 산돌고딕 Neo 일반체"/>
              <a:ea typeface="Apple SD 산돌고딕 Neo 일반체"/>
              <a:cs typeface="Apple SD 산돌고딕 Neo 일반체"/>
              <a:sym typeface="Apple SD 산돌고딕 Neo 일반체"/>
            </a:endParaR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>
              <a:lnSpc>
                <a:spcPct val="100000"/>
              </a:lnSpc>
              <a:spcBef>
                <a:spcPts val="400"/>
              </a:spcBef>
              <a:defRPr sz="25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IntelliJ · GitHub · Postman · MySQL Workbench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Freeform 4"/>
          <p:cNvSpPr/>
          <p:nvPr/>
        </p:nvSpPr>
        <p:spPr>
          <a:xfrm>
            <a:off x="2939732" y="2789423"/>
            <a:ext cx="6060046" cy="2209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63" y="0"/>
                </a:moveTo>
                <a:lnTo>
                  <a:pt x="21237" y="0"/>
                </a:lnTo>
                <a:cubicBezTo>
                  <a:pt x="21437" y="0"/>
                  <a:pt x="21600" y="446"/>
                  <a:pt x="21600" y="996"/>
                </a:cubicBezTo>
                <a:lnTo>
                  <a:pt x="21600" y="20604"/>
                </a:lnTo>
                <a:cubicBezTo>
                  <a:pt x="21600" y="21154"/>
                  <a:pt x="21437" y="21600"/>
                  <a:pt x="21237" y="21600"/>
                </a:cubicBezTo>
                <a:lnTo>
                  <a:pt x="363" y="21600"/>
                </a:lnTo>
                <a:cubicBezTo>
                  <a:pt x="163" y="21600"/>
                  <a:pt x="0" y="21154"/>
                  <a:pt x="0" y="20604"/>
                </a:cubicBezTo>
                <a:lnTo>
                  <a:pt x="0" y="996"/>
                </a:lnTo>
                <a:cubicBezTo>
                  <a:pt x="0" y="446"/>
                  <a:pt x="163" y="0"/>
                  <a:pt x="363" y="0"/>
                </a:cubicBezTo>
                <a:close/>
              </a:path>
            </a:pathLst>
          </a:custGeom>
          <a:solidFill>
            <a:srgbClr val="AFAFAF">
              <a:alpha val="29804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2" name="Freeform 7"/>
          <p:cNvSpPr/>
          <p:nvPr/>
        </p:nvSpPr>
        <p:spPr>
          <a:xfrm>
            <a:off x="2939732" y="5287959"/>
            <a:ext cx="6060046" cy="2209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63" y="0"/>
                </a:moveTo>
                <a:lnTo>
                  <a:pt x="21237" y="0"/>
                </a:lnTo>
                <a:cubicBezTo>
                  <a:pt x="21437" y="0"/>
                  <a:pt x="21600" y="446"/>
                  <a:pt x="21600" y="996"/>
                </a:cubicBezTo>
                <a:lnTo>
                  <a:pt x="21600" y="20604"/>
                </a:lnTo>
                <a:cubicBezTo>
                  <a:pt x="21600" y="21154"/>
                  <a:pt x="21437" y="21600"/>
                  <a:pt x="21237" y="21600"/>
                </a:cubicBezTo>
                <a:lnTo>
                  <a:pt x="363" y="21600"/>
                </a:lnTo>
                <a:cubicBezTo>
                  <a:pt x="163" y="21600"/>
                  <a:pt x="0" y="21154"/>
                  <a:pt x="0" y="20604"/>
                </a:cubicBezTo>
                <a:lnTo>
                  <a:pt x="0" y="996"/>
                </a:lnTo>
                <a:cubicBezTo>
                  <a:pt x="0" y="446"/>
                  <a:pt x="163" y="0"/>
                  <a:pt x="363" y="0"/>
                </a:cubicBezTo>
                <a:close/>
              </a:path>
            </a:pathLst>
          </a:custGeom>
          <a:solidFill>
            <a:srgbClr val="AFAFAF">
              <a:alpha val="29804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3" name="Freeform 10"/>
          <p:cNvSpPr/>
          <p:nvPr/>
        </p:nvSpPr>
        <p:spPr>
          <a:xfrm>
            <a:off x="9288222" y="2789423"/>
            <a:ext cx="6060046" cy="2209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63" y="0"/>
                </a:moveTo>
                <a:lnTo>
                  <a:pt x="21237" y="0"/>
                </a:lnTo>
                <a:cubicBezTo>
                  <a:pt x="21437" y="0"/>
                  <a:pt x="21600" y="446"/>
                  <a:pt x="21600" y="996"/>
                </a:cubicBezTo>
                <a:lnTo>
                  <a:pt x="21600" y="20604"/>
                </a:lnTo>
                <a:cubicBezTo>
                  <a:pt x="21600" y="21154"/>
                  <a:pt x="21437" y="21600"/>
                  <a:pt x="21237" y="21600"/>
                </a:cubicBezTo>
                <a:lnTo>
                  <a:pt x="363" y="21600"/>
                </a:lnTo>
                <a:cubicBezTo>
                  <a:pt x="163" y="21600"/>
                  <a:pt x="0" y="21154"/>
                  <a:pt x="0" y="20604"/>
                </a:cubicBezTo>
                <a:lnTo>
                  <a:pt x="0" y="996"/>
                </a:lnTo>
                <a:cubicBezTo>
                  <a:pt x="0" y="446"/>
                  <a:pt x="163" y="0"/>
                  <a:pt x="363" y="0"/>
                </a:cubicBezTo>
                <a:close/>
              </a:path>
            </a:pathLst>
          </a:custGeom>
          <a:solidFill>
            <a:srgbClr val="AFAFAF">
              <a:alpha val="29804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" name="Freeform 13"/>
          <p:cNvSpPr/>
          <p:nvPr/>
        </p:nvSpPr>
        <p:spPr>
          <a:xfrm>
            <a:off x="9288222" y="5287959"/>
            <a:ext cx="6060046" cy="2209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63" y="0"/>
                </a:moveTo>
                <a:lnTo>
                  <a:pt x="21237" y="0"/>
                </a:lnTo>
                <a:cubicBezTo>
                  <a:pt x="21437" y="0"/>
                  <a:pt x="21600" y="446"/>
                  <a:pt x="21600" y="996"/>
                </a:cubicBezTo>
                <a:lnTo>
                  <a:pt x="21600" y="20604"/>
                </a:lnTo>
                <a:cubicBezTo>
                  <a:pt x="21600" y="21154"/>
                  <a:pt x="21437" y="21600"/>
                  <a:pt x="21237" y="21600"/>
                </a:cubicBezTo>
                <a:lnTo>
                  <a:pt x="363" y="21600"/>
                </a:lnTo>
                <a:cubicBezTo>
                  <a:pt x="163" y="21600"/>
                  <a:pt x="0" y="21154"/>
                  <a:pt x="0" y="20604"/>
                </a:cubicBezTo>
                <a:lnTo>
                  <a:pt x="0" y="996"/>
                </a:lnTo>
                <a:cubicBezTo>
                  <a:pt x="0" y="446"/>
                  <a:pt x="163" y="0"/>
                  <a:pt x="363" y="0"/>
                </a:cubicBezTo>
                <a:close/>
              </a:path>
            </a:pathLst>
          </a:custGeom>
          <a:solidFill>
            <a:srgbClr val="AFAFAF">
              <a:alpha val="29804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" name="Freeform 15"/>
          <p:cNvSpPr/>
          <p:nvPr/>
        </p:nvSpPr>
        <p:spPr>
          <a:xfrm>
            <a:off x="7908402" y="3336962"/>
            <a:ext cx="608879" cy="61672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" name="Freeform 16"/>
          <p:cNvSpPr/>
          <p:nvPr/>
        </p:nvSpPr>
        <p:spPr>
          <a:xfrm>
            <a:off x="14206791" y="3202754"/>
            <a:ext cx="617353" cy="61735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" name="Freeform 17"/>
          <p:cNvSpPr/>
          <p:nvPr/>
        </p:nvSpPr>
        <p:spPr>
          <a:xfrm>
            <a:off x="7884470" y="5732503"/>
            <a:ext cx="656744" cy="640027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" name="Freeform 18"/>
          <p:cNvSpPr/>
          <p:nvPr/>
        </p:nvSpPr>
        <p:spPr>
          <a:xfrm>
            <a:off x="14094432" y="5728790"/>
            <a:ext cx="729711" cy="64745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9" name="TextBox 20"/>
          <p:cNvSpPr txBox="1"/>
          <p:nvPr/>
        </p:nvSpPr>
        <p:spPr>
          <a:xfrm>
            <a:off x="3133486" y="4319852"/>
            <a:ext cx="4165403" cy="36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프로젝트 기본 구조 및 접근방식 이해하기</a:t>
            </a:r>
          </a:p>
        </p:txBody>
      </p:sp>
      <p:sp>
        <p:nvSpPr>
          <p:cNvPr id="160" name="TextBox 21"/>
          <p:cNvSpPr txBox="1"/>
          <p:nvPr/>
        </p:nvSpPr>
        <p:spPr>
          <a:xfrm>
            <a:off x="3133486" y="6597129"/>
            <a:ext cx="4165403" cy="36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초기설계와 기능구현 단계의 Align 재점검</a:t>
            </a:r>
          </a:p>
        </p:txBody>
      </p:sp>
      <p:sp>
        <p:nvSpPr>
          <p:cNvPr id="161" name="TextBox 22"/>
          <p:cNvSpPr txBox="1"/>
          <p:nvPr/>
        </p:nvSpPr>
        <p:spPr>
          <a:xfrm>
            <a:off x="9463572" y="4319852"/>
            <a:ext cx="5513236" cy="36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외부 API 적용을 위한 공식문서 확인 및 필요 요소 확인</a:t>
            </a:r>
          </a:p>
        </p:txBody>
      </p:sp>
      <p:sp>
        <p:nvSpPr>
          <p:cNvPr id="162" name="TextBox 23"/>
          <p:cNvSpPr txBox="1"/>
          <p:nvPr/>
        </p:nvSpPr>
        <p:spPr>
          <a:xfrm>
            <a:off x="9416766" y="6597129"/>
            <a:ext cx="4333806" cy="36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indent="0"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효율성 증대를 위한 CI/CD 구현 및 배포</a:t>
            </a:r>
          </a:p>
        </p:txBody>
      </p:sp>
      <p:sp>
        <p:nvSpPr>
          <p:cNvPr id="163" name="TextBox 24"/>
          <p:cNvSpPr txBox="1"/>
          <p:nvPr/>
        </p:nvSpPr>
        <p:spPr>
          <a:xfrm>
            <a:off x="3135414" y="3108115"/>
            <a:ext cx="4703788" cy="1074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200"/>
              </a:lnSpc>
              <a:defRPr sz="30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ERD 설계 및 </a:t>
            </a:r>
          </a:p>
          <a:p>
            <a:pPr>
              <a:lnSpc>
                <a:spcPts val="4200"/>
              </a:lnSpc>
              <a:defRPr sz="30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비즈니스 로직 플로우차트 작성 </a:t>
            </a:r>
          </a:p>
        </p:txBody>
      </p:sp>
      <p:sp>
        <p:nvSpPr>
          <p:cNvPr id="164" name="TextBox 25"/>
          <p:cNvSpPr txBox="1"/>
          <p:nvPr/>
        </p:nvSpPr>
        <p:spPr>
          <a:xfrm>
            <a:off x="3134135" y="5782006"/>
            <a:ext cx="4706345" cy="541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200"/>
              </a:lnSpc>
              <a:defRPr sz="30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기능 구현 및 SA문서 더블체크</a:t>
            </a:r>
          </a:p>
        </p:txBody>
      </p:sp>
      <p:sp>
        <p:nvSpPr>
          <p:cNvPr id="165" name="TextBox 26"/>
          <p:cNvSpPr txBox="1"/>
          <p:nvPr/>
        </p:nvSpPr>
        <p:spPr>
          <a:xfrm>
            <a:off x="9459316" y="3240920"/>
            <a:ext cx="4555703" cy="541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200"/>
              </a:lnSpc>
              <a:defRPr sz="30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PortOne API 공식문서 확인</a:t>
            </a:r>
          </a:p>
        </p:txBody>
      </p:sp>
      <p:sp>
        <p:nvSpPr>
          <p:cNvPr id="166" name="TextBox 27"/>
          <p:cNvSpPr txBox="1"/>
          <p:nvPr/>
        </p:nvSpPr>
        <p:spPr>
          <a:xfrm>
            <a:off x="9458673" y="5782006"/>
            <a:ext cx="3017566" cy="541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200"/>
              </a:lnSpc>
              <a:defRPr sz="30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CI / CD 배포</a:t>
            </a:r>
          </a:p>
        </p:txBody>
      </p:sp>
      <p:sp>
        <p:nvSpPr>
          <p:cNvPr id="167" name="TextBox 28"/>
          <p:cNvSpPr txBox="1"/>
          <p:nvPr/>
        </p:nvSpPr>
        <p:spPr>
          <a:xfrm>
            <a:off x="654050" y="1084025"/>
            <a:ext cx="4160566" cy="801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200"/>
              </a:lnSpc>
              <a:defRPr b="1" sz="45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전략 및 접근 방법</a:t>
            </a:r>
          </a:p>
        </p:txBody>
      </p:sp>
      <p:sp>
        <p:nvSpPr>
          <p:cNvPr id="168" name="TextBox 26"/>
          <p:cNvSpPr txBox="1"/>
          <p:nvPr/>
        </p:nvSpPr>
        <p:spPr>
          <a:xfrm>
            <a:off x="687867" y="606425"/>
            <a:ext cx="2971526" cy="4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b="1" sz="24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결제 시스템 프로젝트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AutoShape 2"/>
          <p:cNvSpPr/>
          <p:nvPr/>
        </p:nvSpPr>
        <p:spPr>
          <a:xfrm>
            <a:off x="507221" y="9779778"/>
            <a:ext cx="17273558" cy="1"/>
          </a:xfrm>
          <a:prstGeom prst="line">
            <a:avLst/>
          </a:prstGeom>
          <a:ln>
            <a:solidFill>
              <a:srgbClr val="AFAFAF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" name="AutoShape 3"/>
          <p:cNvSpPr/>
          <p:nvPr/>
        </p:nvSpPr>
        <p:spPr>
          <a:xfrm>
            <a:off x="3645701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" name="AutoShape 4"/>
          <p:cNvSpPr/>
          <p:nvPr/>
        </p:nvSpPr>
        <p:spPr>
          <a:xfrm>
            <a:off x="6667866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" name="Freeform 6"/>
          <p:cNvSpPr/>
          <p:nvPr/>
        </p:nvSpPr>
        <p:spPr>
          <a:xfrm>
            <a:off x="2218795" y="2764496"/>
            <a:ext cx="1426907" cy="1365554"/>
          </a:xfrm>
          <a:prstGeom prst="ellipse">
            <a:avLst/>
          </a:prstGeom>
          <a:solidFill>
            <a:srgbClr val="EB1D26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4" name="Freeform 9"/>
          <p:cNvSpPr/>
          <p:nvPr/>
        </p:nvSpPr>
        <p:spPr>
          <a:xfrm>
            <a:off x="5240961" y="2764496"/>
            <a:ext cx="1426906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5" name="Freeform 12"/>
          <p:cNvSpPr/>
          <p:nvPr/>
        </p:nvSpPr>
        <p:spPr>
          <a:xfrm>
            <a:off x="8263128" y="2764496"/>
            <a:ext cx="1426907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" name="Freeform 15"/>
          <p:cNvSpPr/>
          <p:nvPr/>
        </p:nvSpPr>
        <p:spPr>
          <a:xfrm>
            <a:off x="11285294" y="2764496"/>
            <a:ext cx="1426906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" name="Freeform 18"/>
          <p:cNvSpPr/>
          <p:nvPr/>
        </p:nvSpPr>
        <p:spPr>
          <a:xfrm>
            <a:off x="14307461" y="2764496"/>
            <a:ext cx="1426906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" name="AutoShape 20"/>
          <p:cNvSpPr/>
          <p:nvPr/>
        </p:nvSpPr>
        <p:spPr>
          <a:xfrm>
            <a:off x="9690034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" name="AutoShape 21"/>
          <p:cNvSpPr/>
          <p:nvPr/>
        </p:nvSpPr>
        <p:spPr>
          <a:xfrm>
            <a:off x="12712200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" name="TextBox 22"/>
          <p:cNvSpPr txBox="1"/>
          <p:nvPr/>
        </p:nvSpPr>
        <p:spPr>
          <a:xfrm>
            <a:off x="6163848" y="6301373"/>
            <a:ext cx="6219121" cy="36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31801" indent="-215900">
              <a:buSzPct val="100000"/>
              <a:buFont typeface="Arial"/>
              <a:buChar char="•"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결제 시스템의 전반적인 처리 과정과 흐름을 파악</a:t>
            </a:r>
          </a:p>
        </p:txBody>
      </p:sp>
      <p:sp>
        <p:nvSpPr>
          <p:cNvPr id="181" name="TextBox 23"/>
          <p:cNvSpPr txBox="1"/>
          <p:nvPr/>
        </p:nvSpPr>
        <p:spPr>
          <a:xfrm>
            <a:off x="2593718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F9F3E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82" name="TextBox 24"/>
          <p:cNvSpPr txBox="1"/>
          <p:nvPr/>
        </p:nvSpPr>
        <p:spPr>
          <a:xfrm>
            <a:off x="5615883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000000">
                    <a:alpha val="2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3" name="TextBox 25"/>
          <p:cNvSpPr txBox="1"/>
          <p:nvPr/>
        </p:nvSpPr>
        <p:spPr>
          <a:xfrm>
            <a:off x="8638051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000000">
                    <a:alpha val="2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84" name="TextBox 26"/>
          <p:cNvSpPr txBox="1"/>
          <p:nvPr/>
        </p:nvSpPr>
        <p:spPr>
          <a:xfrm>
            <a:off x="11660216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000000">
                    <a:alpha val="2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85" name="TextBox 27"/>
          <p:cNvSpPr txBox="1"/>
          <p:nvPr/>
        </p:nvSpPr>
        <p:spPr>
          <a:xfrm>
            <a:off x="14682384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000000">
                    <a:alpha val="2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86" name="TextBox 28"/>
          <p:cNvSpPr txBox="1"/>
          <p:nvPr/>
        </p:nvSpPr>
        <p:spPr>
          <a:xfrm>
            <a:off x="2249461" y="4282049"/>
            <a:ext cx="1365573" cy="461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/>
            </a:lvl1pPr>
          </a:lstStyle>
          <a:p>
            <a:pPr/>
            <a:r>
              <a:t>계획 수립</a:t>
            </a:r>
          </a:p>
        </p:txBody>
      </p:sp>
      <p:sp>
        <p:nvSpPr>
          <p:cNvPr id="187" name="TextBox 29"/>
          <p:cNvSpPr txBox="1"/>
          <p:nvPr/>
        </p:nvSpPr>
        <p:spPr>
          <a:xfrm>
            <a:off x="3736966" y="6891922"/>
            <a:ext cx="1508821" cy="541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200"/>
              </a:lnSpc>
              <a:defRPr sz="30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계획 수립</a:t>
            </a:r>
          </a:p>
        </p:txBody>
      </p:sp>
      <p:sp>
        <p:nvSpPr>
          <p:cNvPr id="188" name="TextBox 30"/>
          <p:cNvSpPr txBox="1"/>
          <p:nvPr/>
        </p:nvSpPr>
        <p:spPr>
          <a:xfrm>
            <a:off x="4838751" y="4282049"/>
            <a:ext cx="2231327" cy="91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</a:defRPr>
            </a:lvl1pPr>
          </a:lstStyle>
          <a:p>
            <a:pPr/>
            <a:r>
              <a:t>SA 문서 작성 및 Entity 설계 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7928292" y="4282049"/>
            <a:ext cx="2096581" cy="91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</a:defRPr>
            </a:pPr>
            <a:r>
              <a:t>역할 분담 및</a:t>
            </a:r>
          </a:p>
          <a:p>
            <a: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</a:defRPr>
            </a:pPr>
            <a:r>
              <a:t>기능 구현</a:t>
            </a:r>
          </a:p>
        </p:txBody>
      </p:sp>
      <p:sp>
        <p:nvSpPr>
          <p:cNvPr id="190" name="TextBox 32"/>
          <p:cNvSpPr txBox="1"/>
          <p:nvPr/>
        </p:nvSpPr>
        <p:spPr>
          <a:xfrm>
            <a:off x="10950457" y="4282049"/>
            <a:ext cx="2096581" cy="461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</a:defRPr>
            </a:lvl1pPr>
          </a:lstStyle>
          <a:p>
            <a:pPr/>
            <a:r>
              <a:t>테스트 및 검토</a:t>
            </a:r>
          </a:p>
        </p:txBody>
      </p:sp>
      <p:sp>
        <p:nvSpPr>
          <p:cNvPr id="191" name="TextBox 33"/>
          <p:cNvSpPr txBox="1"/>
          <p:nvPr/>
        </p:nvSpPr>
        <p:spPr>
          <a:xfrm>
            <a:off x="13972624" y="4282049"/>
            <a:ext cx="2096581" cy="91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</a:defRPr>
            </a:lvl1pPr>
          </a:lstStyle>
          <a:p>
            <a:pPr/>
            <a:r>
              <a:t>CI/CD 구현 및 최종 테스트</a:t>
            </a:r>
          </a:p>
        </p:txBody>
      </p:sp>
      <p:sp>
        <p:nvSpPr>
          <p:cNvPr id="192" name="TextBox 34"/>
          <p:cNvSpPr txBox="1"/>
          <p:nvPr/>
        </p:nvSpPr>
        <p:spPr>
          <a:xfrm>
            <a:off x="6163848" y="7361822"/>
            <a:ext cx="8837660" cy="36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31801" indent="-215900">
              <a:buSzPct val="100000"/>
              <a:buFont typeface="Arial"/>
              <a:buChar char="•"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해당 프로젝트의 구성과 이해가 되지 않는 부분에 대해 접근방식을 설정</a:t>
            </a:r>
          </a:p>
        </p:txBody>
      </p:sp>
      <p:sp>
        <p:nvSpPr>
          <p:cNvPr id="193" name="TextBox 35"/>
          <p:cNvSpPr txBox="1"/>
          <p:nvPr/>
        </p:nvSpPr>
        <p:spPr>
          <a:xfrm>
            <a:off x="6163848" y="6831597"/>
            <a:ext cx="7078246" cy="36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31801" indent="-215900">
              <a:buSzPct val="100000"/>
              <a:buFont typeface="Arial"/>
              <a:buChar char="•"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기존 제공된 프로젝트 파일의 필요사항과 불필요사항을 정리</a:t>
            </a:r>
          </a:p>
        </p:txBody>
      </p:sp>
      <p:sp>
        <p:nvSpPr>
          <p:cNvPr id="194" name="TextBox 36"/>
          <p:cNvSpPr txBox="1"/>
          <p:nvPr/>
        </p:nvSpPr>
        <p:spPr>
          <a:xfrm>
            <a:off x="654050" y="1084025"/>
            <a:ext cx="2103166" cy="801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200"/>
              </a:lnSpc>
              <a:defRPr b="1" sz="45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타임라인</a:t>
            </a:r>
          </a:p>
        </p:txBody>
      </p:sp>
      <p:sp>
        <p:nvSpPr>
          <p:cNvPr id="195" name="TextBox 26"/>
          <p:cNvSpPr txBox="1"/>
          <p:nvPr/>
        </p:nvSpPr>
        <p:spPr>
          <a:xfrm>
            <a:off x="687867" y="606425"/>
            <a:ext cx="2971526" cy="4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b="1" sz="24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결제 시스템 프로젝트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Freeform 12"/>
          <p:cNvSpPr/>
          <p:nvPr/>
        </p:nvSpPr>
        <p:spPr>
          <a:xfrm>
            <a:off x="2218796" y="2760372"/>
            <a:ext cx="1426906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8" name="AutoShape 2"/>
          <p:cNvSpPr/>
          <p:nvPr/>
        </p:nvSpPr>
        <p:spPr>
          <a:xfrm>
            <a:off x="507221" y="9779778"/>
            <a:ext cx="17273558" cy="1"/>
          </a:xfrm>
          <a:prstGeom prst="line">
            <a:avLst/>
          </a:prstGeom>
          <a:ln>
            <a:solidFill>
              <a:srgbClr val="AFAFAF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9" name="AutoShape 3"/>
          <p:cNvSpPr/>
          <p:nvPr/>
        </p:nvSpPr>
        <p:spPr>
          <a:xfrm>
            <a:off x="3645701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AutoShape 4"/>
          <p:cNvSpPr/>
          <p:nvPr/>
        </p:nvSpPr>
        <p:spPr>
          <a:xfrm>
            <a:off x="6667866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1" name="Freeform 9"/>
          <p:cNvSpPr/>
          <p:nvPr/>
        </p:nvSpPr>
        <p:spPr>
          <a:xfrm>
            <a:off x="5240961" y="2764496"/>
            <a:ext cx="1426906" cy="1365554"/>
          </a:xfrm>
          <a:prstGeom prst="ellipse">
            <a:avLst/>
          </a:prstGeom>
          <a:solidFill>
            <a:srgbClr val="D83833"/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2" name="Freeform 12"/>
          <p:cNvSpPr/>
          <p:nvPr/>
        </p:nvSpPr>
        <p:spPr>
          <a:xfrm>
            <a:off x="8263128" y="2764496"/>
            <a:ext cx="1426907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3" name="Freeform 15"/>
          <p:cNvSpPr/>
          <p:nvPr/>
        </p:nvSpPr>
        <p:spPr>
          <a:xfrm>
            <a:off x="11285294" y="2764496"/>
            <a:ext cx="1426906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4" name="Freeform 18"/>
          <p:cNvSpPr/>
          <p:nvPr/>
        </p:nvSpPr>
        <p:spPr>
          <a:xfrm>
            <a:off x="14307461" y="2764496"/>
            <a:ext cx="1426906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5" name="AutoShape 20"/>
          <p:cNvSpPr/>
          <p:nvPr/>
        </p:nvSpPr>
        <p:spPr>
          <a:xfrm>
            <a:off x="9690034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6" name="AutoShape 21"/>
          <p:cNvSpPr/>
          <p:nvPr/>
        </p:nvSpPr>
        <p:spPr>
          <a:xfrm>
            <a:off x="12712200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7" name="TextBox 22"/>
          <p:cNvSpPr txBox="1"/>
          <p:nvPr/>
        </p:nvSpPr>
        <p:spPr>
          <a:xfrm>
            <a:off x="6074558" y="6756406"/>
            <a:ext cx="9544406" cy="142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31801" indent="-215900">
              <a:buSzPct val="100000"/>
              <a:buFont typeface="Arial"/>
              <a:buChar char="•"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포인트 기반 결제 시스템의 전반적인 비즈니스 로직 논의 및 설정</a:t>
            </a:r>
          </a:p>
          <a:p>
            <a:pPr lvl="2" marL="1130300" indent="-215900">
              <a:buSzPct val="100000"/>
              <a:buFont typeface="Arial"/>
              <a:buChar char="•"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1차 : 전체 큰 로직 설정</a:t>
            </a:r>
          </a:p>
          <a:p>
            <a:pPr lvl="2" marL="1130300" indent="-215900">
              <a:buSzPct val="100000"/>
              <a:buFont typeface="Arial"/>
              <a:buChar char="•"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2차 : 각 주요 기능별 세부 로직 추가</a:t>
            </a:r>
          </a:p>
          <a:p>
            <a:pPr lvl="2" marL="1130300" indent="-215900">
              <a:buSzPct val="100000"/>
              <a:buFont typeface="Arial"/>
              <a:buChar char="•"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3차 : 최종 구현 단계 이후 비즈니스 로직 수정</a:t>
            </a:r>
          </a:p>
        </p:txBody>
      </p:sp>
      <p:sp>
        <p:nvSpPr>
          <p:cNvPr id="208" name="TextBox 23"/>
          <p:cNvSpPr txBox="1"/>
          <p:nvPr/>
        </p:nvSpPr>
        <p:spPr>
          <a:xfrm>
            <a:off x="2593718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B8B8B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09" name="TextBox 24"/>
          <p:cNvSpPr txBox="1"/>
          <p:nvPr/>
        </p:nvSpPr>
        <p:spPr>
          <a:xfrm>
            <a:off x="5615883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0" name="TextBox 25"/>
          <p:cNvSpPr txBox="1"/>
          <p:nvPr/>
        </p:nvSpPr>
        <p:spPr>
          <a:xfrm>
            <a:off x="8638051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000000">
                    <a:alpha val="2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11" name="TextBox 26"/>
          <p:cNvSpPr txBox="1"/>
          <p:nvPr/>
        </p:nvSpPr>
        <p:spPr>
          <a:xfrm>
            <a:off x="11660216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000000">
                    <a:alpha val="2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12" name="TextBox 27"/>
          <p:cNvSpPr txBox="1"/>
          <p:nvPr/>
        </p:nvSpPr>
        <p:spPr>
          <a:xfrm>
            <a:off x="14682384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000000">
                    <a:alpha val="2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213" name="TextBox 28"/>
          <p:cNvSpPr txBox="1"/>
          <p:nvPr/>
        </p:nvSpPr>
        <p:spPr>
          <a:xfrm>
            <a:off x="2249461" y="4282049"/>
            <a:ext cx="1365573" cy="461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>
                <a:solidFill>
                  <a:srgbClr val="A7A7A7"/>
                </a:solidFill>
              </a:defRPr>
            </a:lvl1pPr>
          </a:lstStyle>
          <a:p>
            <a:pPr/>
            <a:r>
              <a:t>계획 수립</a:t>
            </a:r>
          </a:p>
        </p:txBody>
      </p:sp>
      <p:sp>
        <p:nvSpPr>
          <p:cNvPr id="214" name="TextBox 29"/>
          <p:cNvSpPr txBox="1"/>
          <p:nvPr/>
        </p:nvSpPr>
        <p:spPr>
          <a:xfrm>
            <a:off x="3155760" y="6474727"/>
            <a:ext cx="2722294" cy="107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4200"/>
              </a:lnSpc>
              <a:defRPr sz="30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SA 문서 작성 및 Entity 설계</a:t>
            </a:r>
          </a:p>
        </p:txBody>
      </p:sp>
      <p:sp>
        <p:nvSpPr>
          <p:cNvPr id="215" name="TextBox 30"/>
          <p:cNvSpPr txBox="1"/>
          <p:nvPr/>
        </p:nvSpPr>
        <p:spPr>
          <a:xfrm>
            <a:off x="4838751" y="4282049"/>
            <a:ext cx="2231327" cy="91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/>
            </a:lvl1pPr>
          </a:lstStyle>
          <a:p>
            <a:pPr/>
            <a:r>
              <a:t>SA 문서 작성 및 Entity 설계 </a:t>
            </a:r>
          </a:p>
        </p:txBody>
      </p:sp>
      <p:sp>
        <p:nvSpPr>
          <p:cNvPr id="216" name="TextBox 31"/>
          <p:cNvSpPr txBox="1"/>
          <p:nvPr/>
        </p:nvSpPr>
        <p:spPr>
          <a:xfrm>
            <a:off x="7928292" y="4282049"/>
            <a:ext cx="2096581" cy="91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</a:defRPr>
            </a:pPr>
            <a:r>
              <a:t>역할 분담 및</a:t>
            </a:r>
          </a:p>
          <a:p>
            <a: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</a:defRPr>
            </a:pPr>
            <a:r>
              <a:t>기능 구현</a:t>
            </a:r>
          </a:p>
        </p:txBody>
      </p:sp>
      <p:sp>
        <p:nvSpPr>
          <p:cNvPr id="217" name="TextBox 32"/>
          <p:cNvSpPr txBox="1"/>
          <p:nvPr/>
        </p:nvSpPr>
        <p:spPr>
          <a:xfrm>
            <a:off x="10950457" y="4282049"/>
            <a:ext cx="2096581" cy="461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</a:defRPr>
            </a:lvl1pPr>
          </a:lstStyle>
          <a:p>
            <a:pPr/>
            <a:r>
              <a:t>테스트 및 검토</a:t>
            </a:r>
          </a:p>
        </p:txBody>
      </p:sp>
      <p:sp>
        <p:nvSpPr>
          <p:cNvPr id="218" name="TextBox 33"/>
          <p:cNvSpPr txBox="1"/>
          <p:nvPr/>
        </p:nvSpPr>
        <p:spPr>
          <a:xfrm>
            <a:off x="13972624" y="4282049"/>
            <a:ext cx="2096581" cy="91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</a:defRPr>
            </a:lvl1pPr>
          </a:lstStyle>
          <a:p>
            <a:pPr/>
            <a:r>
              <a:t>CI/CD 구현 및 최종 테스트</a:t>
            </a:r>
          </a:p>
        </p:txBody>
      </p:sp>
      <p:sp>
        <p:nvSpPr>
          <p:cNvPr id="219" name="TextBox 35"/>
          <p:cNvSpPr txBox="1"/>
          <p:nvPr/>
        </p:nvSpPr>
        <p:spPr>
          <a:xfrm>
            <a:off x="6069262" y="6334189"/>
            <a:ext cx="8556627" cy="36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31801" indent="-215900">
              <a:buSzPct val="100000"/>
              <a:buFont typeface="Arial"/>
              <a:buChar char="•"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ERD 기반 Entity 설계 이후 필수 Column 설정 및 수정</a:t>
            </a:r>
          </a:p>
        </p:txBody>
      </p:sp>
      <p:sp>
        <p:nvSpPr>
          <p:cNvPr id="220" name="TextBox 36"/>
          <p:cNvSpPr txBox="1"/>
          <p:nvPr/>
        </p:nvSpPr>
        <p:spPr>
          <a:xfrm>
            <a:off x="654050" y="1084025"/>
            <a:ext cx="2103166" cy="801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200"/>
              </a:lnSpc>
              <a:defRPr b="1" sz="45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타임라인</a:t>
            </a:r>
          </a:p>
        </p:txBody>
      </p:sp>
      <p:sp>
        <p:nvSpPr>
          <p:cNvPr id="221" name="TextBox 26"/>
          <p:cNvSpPr txBox="1"/>
          <p:nvPr/>
        </p:nvSpPr>
        <p:spPr>
          <a:xfrm>
            <a:off x="687867" y="606425"/>
            <a:ext cx="2971526" cy="4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b="1" sz="24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결제 시스템 프로젝트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AutoShape 2"/>
          <p:cNvSpPr/>
          <p:nvPr/>
        </p:nvSpPr>
        <p:spPr>
          <a:xfrm>
            <a:off x="507221" y="9779778"/>
            <a:ext cx="17273558" cy="1"/>
          </a:xfrm>
          <a:prstGeom prst="line">
            <a:avLst/>
          </a:prstGeom>
          <a:ln>
            <a:solidFill>
              <a:srgbClr val="AFAFAF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4" name="AutoShape 3"/>
          <p:cNvSpPr/>
          <p:nvPr/>
        </p:nvSpPr>
        <p:spPr>
          <a:xfrm>
            <a:off x="3645701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5" name="AutoShape 4"/>
          <p:cNvSpPr/>
          <p:nvPr/>
        </p:nvSpPr>
        <p:spPr>
          <a:xfrm>
            <a:off x="6667866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" name="Freeform 6"/>
          <p:cNvSpPr/>
          <p:nvPr/>
        </p:nvSpPr>
        <p:spPr>
          <a:xfrm>
            <a:off x="8267891" y="2760372"/>
            <a:ext cx="1426906" cy="1365554"/>
          </a:xfrm>
          <a:prstGeom prst="ellipse">
            <a:avLst/>
          </a:prstGeom>
          <a:solidFill>
            <a:srgbClr val="EB1D26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7" name="Freeform 9"/>
          <p:cNvSpPr/>
          <p:nvPr/>
        </p:nvSpPr>
        <p:spPr>
          <a:xfrm>
            <a:off x="5240961" y="2764496"/>
            <a:ext cx="1426906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" name="Freeform 12"/>
          <p:cNvSpPr/>
          <p:nvPr/>
        </p:nvSpPr>
        <p:spPr>
          <a:xfrm>
            <a:off x="2218795" y="2760372"/>
            <a:ext cx="1426907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9" name="Freeform 15"/>
          <p:cNvSpPr/>
          <p:nvPr/>
        </p:nvSpPr>
        <p:spPr>
          <a:xfrm>
            <a:off x="11285294" y="2764496"/>
            <a:ext cx="1426906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0" name="Freeform 18"/>
          <p:cNvSpPr/>
          <p:nvPr/>
        </p:nvSpPr>
        <p:spPr>
          <a:xfrm>
            <a:off x="14307461" y="2764496"/>
            <a:ext cx="1426906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1" name="AutoShape 20"/>
          <p:cNvSpPr/>
          <p:nvPr/>
        </p:nvSpPr>
        <p:spPr>
          <a:xfrm>
            <a:off x="9690034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2" name="AutoShape 21"/>
          <p:cNvSpPr/>
          <p:nvPr/>
        </p:nvSpPr>
        <p:spPr>
          <a:xfrm>
            <a:off x="12712200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" name="TextBox 22"/>
          <p:cNvSpPr txBox="1"/>
          <p:nvPr/>
        </p:nvSpPr>
        <p:spPr>
          <a:xfrm>
            <a:off x="6163848" y="6301373"/>
            <a:ext cx="9593804" cy="36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31801" indent="-215900">
              <a:buSzPct val="100000"/>
              <a:buFont typeface="Arial"/>
              <a:buChar char="•"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각 필수 구현 필요 기능에 대한 Task 분담 및 PR에 대해 소통</a:t>
            </a:r>
          </a:p>
        </p:txBody>
      </p:sp>
      <p:sp>
        <p:nvSpPr>
          <p:cNvPr id="234" name="TextBox 23"/>
          <p:cNvSpPr txBox="1"/>
          <p:nvPr/>
        </p:nvSpPr>
        <p:spPr>
          <a:xfrm>
            <a:off x="2593718" y="3024752"/>
            <a:ext cx="677062" cy="735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B8B8B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35" name="TextBox 24"/>
          <p:cNvSpPr txBox="1"/>
          <p:nvPr/>
        </p:nvSpPr>
        <p:spPr>
          <a:xfrm>
            <a:off x="5615883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000000">
                    <a:alpha val="2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36" name="TextBox 25"/>
          <p:cNvSpPr txBox="1"/>
          <p:nvPr/>
        </p:nvSpPr>
        <p:spPr>
          <a:xfrm>
            <a:off x="8638051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7" name="TextBox 26"/>
          <p:cNvSpPr txBox="1"/>
          <p:nvPr/>
        </p:nvSpPr>
        <p:spPr>
          <a:xfrm>
            <a:off x="11660216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000000">
                    <a:alpha val="2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38" name="TextBox 27"/>
          <p:cNvSpPr txBox="1"/>
          <p:nvPr/>
        </p:nvSpPr>
        <p:spPr>
          <a:xfrm>
            <a:off x="14682384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000000">
                    <a:alpha val="2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239" name="TextBox 28"/>
          <p:cNvSpPr txBox="1"/>
          <p:nvPr/>
        </p:nvSpPr>
        <p:spPr>
          <a:xfrm>
            <a:off x="2249461" y="4282049"/>
            <a:ext cx="1365573" cy="461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>
                <a:solidFill>
                  <a:srgbClr val="A7A7A7"/>
                </a:solidFill>
              </a:defRPr>
            </a:lvl1pPr>
          </a:lstStyle>
          <a:p>
            <a:pPr/>
            <a:r>
              <a:t>계획 수립</a:t>
            </a:r>
          </a:p>
        </p:txBody>
      </p:sp>
      <p:sp>
        <p:nvSpPr>
          <p:cNvPr id="240" name="TextBox 29"/>
          <p:cNvSpPr txBox="1"/>
          <p:nvPr/>
        </p:nvSpPr>
        <p:spPr>
          <a:xfrm>
            <a:off x="3628364" y="6474727"/>
            <a:ext cx="2096581" cy="107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4200"/>
              </a:lnSpc>
              <a:defRPr sz="30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역할 분담 및 </a:t>
            </a:r>
            <a:br/>
            <a:r>
              <a:t>기능 구현</a:t>
            </a:r>
          </a:p>
        </p:txBody>
      </p:sp>
      <p:sp>
        <p:nvSpPr>
          <p:cNvPr id="241" name="TextBox 30"/>
          <p:cNvSpPr txBox="1"/>
          <p:nvPr/>
        </p:nvSpPr>
        <p:spPr>
          <a:xfrm>
            <a:off x="4838751" y="4282049"/>
            <a:ext cx="2231327" cy="91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</a:defRPr>
            </a:lvl1pPr>
          </a:lstStyle>
          <a:p>
            <a:pPr/>
            <a:r>
              <a:t>SA 문서 작성 및 Entity 설계 </a:t>
            </a:r>
          </a:p>
        </p:txBody>
      </p:sp>
      <p:sp>
        <p:nvSpPr>
          <p:cNvPr id="242" name="TextBox 31"/>
          <p:cNvSpPr txBox="1"/>
          <p:nvPr/>
        </p:nvSpPr>
        <p:spPr>
          <a:xfrm>
            <a:off x="7928292" y="4282049"/>
            <a:ext cx="2096581" cy="91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600"/>
              </a:lnSpc>
              <a:defRPr b="1" sz="2500"/>
            </a:pPr>
            <a:r>
              <a:t>역할 분담 및</a:t>
            </a:r>
          </a:p>
          <a:p>
            <a:pPr algn="ctr">
              <a:lnSpc>
                <a:spcPts val="3600"/>
              </a:lnSpc>
              <a:defRPr b="1" sz="2500"/>
            </a:pPr>
            <a:r>
              <a:t>기능 구현</a:t>
            </a:r>
          </a:p>
        </p:txBody>
      </p:sp>
      <p:sp>
        <p:nvSpPr>
          <p:cNvPr id="243" name="TextBox 32"/>
          <p:cNvSpPr txBox="1"/>
          <p:nvPr/>
        </p:nvSpPr>
        <p:spPr>
          <a:xfrm>
            <a:off x="10950457" y="4282049"/>
            <a:ext cx="2096581" cy="461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</a:defRPr>
            </a:lvl1pPr>
          </a:lstStyle>
          <a:p>
            <a:pPr/>
            <a:r>
              <a:t>테스트 및 검토</a:t>
            </a:r>
          </a:p>
        </p:txBody>
      </p:sp>
      <p:sp>
        <p:nvSpPr>
          <p:cNvPr id="244" name="TextBox 33"/>
          <p:cNvSpPr txBox="1"/>
          <p:nvPr/>
        </p:nvSpPr>
        <p:spPr>
          <a:xfrm>
            <a:off x="13972624" y="4282049"/>
            <a:ext cx="2096581" cy="91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</a:defRPr>
            </a:lvl1pPr>
          </a:lstStyle>
          <a:p>
            <a:pPr/>
            <a:r>
              <a:t>CI/CD 구현 및 최종 테스트</a:t>
            </a:r>
          </a:p>
        </p:txBody>
      </p:sp>
      <p:sp>
        <p:nvSpPr>
          <p:cNvPr id="245" name="TextBox 34"/>
          <p:cNvSpPr txBox="1"/>
          <p:nvPr/>
        </p:nvSpPr>
        <p:spPr>
          <a:xfrm>
            <a:off x="6162445" y="6831597"/>
            <a:ext cx="9444098" cy="36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31801" indent="-215900">
              <a:buSzPct val="100000"/>
              <a:buFont typeface="Arial"/>
              <a:buChar char="•"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구현 과정에서 각 기능 및 목적에 따른 Git Convention, Code Convention에 맞춰 진행</a:t>
            </a:r>
          </a:p>
        </p:txBody>
      </p:sp>
      <p:sp>
        <p:nvSpPr>
          <p:cNvPr id="246" name="TextBox 36"/>
          <p:cNvSpPr txBox="1"/>
          <p:nvPr/>
        </p:nvSpPr>
        <p:spPr>
          <a:xfrm>
            <a:off x="654050" y="1084025"/>
            <a:ext cx="2103166" cy="801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200"/>
              </a:lnSpc>
              <a:defRPr b="1" sz="45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타임라인</a:t>
            </a:r>
          </a:p>
        </p:txBody>
      </p:sp>
      <p:sp>
        <p:nvSpPr>
          <p:cNvPr id="247" name="TextBox 26"/>
          <p:cNvSpPr txBox="1"/>
          <p:nvPr/>
        </p:nvSpPr>
        <p:spPr>
          <a:xfrm>
            <a:off x="687867" y="606425"/>
            <a:ext cx="2971526" cy="4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b="1" sz="24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결제 시스템 프로젝트</a:t>
            </a:r>
          </a:p>
        </p:txBody>
      </p:sp>
      <p:sp>
        <p:nvSpPr>
          <p:cNvPr id="248" name="TextBox 34"/>
          <p:cNvSpPr txBox="1"/>
          <p:nvPr/>
        </p:nvSpPr>
        <p:spPr>
          <a:xfrm>
            <a:off x="6149745" y="7326897"/>
            <a:ext cx="10164589" cy="36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31801" indent="-215900">
              <a:buSzPct val="100000"/>
              <a:buFont typeface="Arial"/>
              <a:buChar char="•"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Develop 브랜치 병합 간 실결제 테스트 이전의 로직 점검이 미흡하여 병합 후 수정 과정이 1회 발생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AutoShape 2"/>
          <p:cNvSpPr/>
          <p:nvPr/>
        </p:nvSpPr>
        <p:spPr>
          <a:xfrm>
            <a:off x="507221" y="9779778"/>
            <a:ext cx="17273558" cy="1"/>
          </a:xfrm>
          <a:prstGeom prst="line">
            <a:avLst/>
          </a:prstGeom>
          <a:ln>
            <a:solidFill>
              <a:srgbClr val="AFAFAF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1" name="AutoShape 3"/>
          <p:cNvSpPr/>
          <p:nvPr/>
        </p:nvSpPr>
        <p:spPr>
          <a:xfrm>
            <a:off x="3645701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2" name="AutoShape 4"/>
          <p:cNvSpPr/>
          <p:nvPr/>
        </p:nvSpPr>
        <p:spPr>
          <a:xfrm>
            <a:off x="6667866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3" name="Freeform 6"/>
          <p:cNvSpPr/>
          <p:nvPr/>
        </p:nvSpPr>
        <p:spPr>
          <a:xfrm>
            <a:off x="11280533" y="2760372"/>
            <a:ext cx="1426906" cy="1365554"/>
          </a:xfrm>
          <a:prstGeom prst="ellipse">
            <a:avLst/>
          </a:prstGeom>
          <a:solidFill>
            <a:srgbClr val="EB1D26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4" name="Freeform 9"/>
          <p:cNvSpPr/>
          <p:nvPr/>
        </p:nvSpPr>
        <p:spPr>
          <a:xfrm>
            <a:off x="5240961" y="2764496"/>
            <a:ext cx="1426906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5" name="Freeform 12"/>
          <p:cNvSpPr/>
          <p:nvPr/>
        </p:nvSpPr>
        <p:spPr>
          <a:xfrm>
            <a:off x="8263128" y="2764496"/>
            <a:ext cx="1426907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6" name="Freeform 15"/>
          <p:cNvSpPr/>
          <p:nvPr/>
        </p:nvSpPr>
        <p:spPr>
          <a:xfrm>
            <a:off x="2218794" y="2760372"/>
            <a:ext cx="1426906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7" name="Freeform 18"/>
          <p:cNvSpPr/>
          <p:nvPr/>
        </p:nvSpPr>
        <p:spPr>
          <a:xfrm>
            <a:off x="14307461" y="2764496"/>
            <a:ext cx="1426906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8" name="AutoShape 20"/>
          <p:cNvSpPr/>
          <p:nvPr/>
        </p:nvSpPr>
        <p:spPr>
          <a:xfrm>
            <a:off x="9690034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9" name="AutoShape 21"/>
          <p:cNvSpPr/>
          <p:nvPr/>
        </p:nvSpPr>
        <p:spPr>
          <a:xfrm>
            <a:off x="12712200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0" name="TextBox 22"/>
          <p:cNvSpPr txBox="1"/>
          <p:nvPr/>
        </p:nvSpPr>
        <p:spPr>
          <a:xfrm>
            <a:off x="6163848" y="6301373"/>
            <a:ext cx="10999717" cy="36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31801" indent="-215900">
              <a:buSzPct val="100000"/>
              <a:buFont typeface="Arial"/>
              <a:buChar char="•"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Develop 브랜치 기준으로 기능 브랜치를 매일 최신화하여 코드 충돌과 예기치 않은 오류를 사전에 최소화</a:t>
            </a:r>
          </a:p>
        </p:txBody>
      </p:sp>
      <p:sp>
        <p:nvSpPr>
          <p:cNvPr id="261" name="TextBox 23"/>
          <p:cNvSpPr txBox="1"/>
          <p:nvPr/>
        </p:nvSpPr>
        <p:spPr>
          <a:xfrm>
            <a:off x="2593718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B8B8B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62" name="TextBox 24"/>
          <p:cNvSpPr txBox="1"/>
          <p:nvPr/>
        </p:nvSpPr>
        <p:spPr>
          <a:xfrm>
            <a:off x="5615883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000000">
                    <a:alpha val="2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63" name="TextBox 25"/>
          <p:cNvSpPr txBox="1"/>
          <p:nvPr/>
        </p:nvSpPr>
        <p:spPr>
          <a:xfrm>
            <a:off x="8638051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000000">
                    <a:alpha val="2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64" name="TextBox 26"/>
          <p:cNvSpPr txBox="1"/>
          <p:nvPr/>
        </p:nvSpPr>
        <p:spPr>
          <a:xfrm>
            <a:off x="11660216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65" name="TextBox 27"/>
          <p:cNvSpPr txBox="1"/>
          <p:nvPr/>
        </p:nvSpPr>
        <p:spPr>
          <a:xfrm>
            <a:off x="14682384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000000">
                    <a:alpha val="2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266" name="TextBox 28"/>
          <p:cNvSpPr txBox="1"/>
          <p:nvPr/>
        </p:nvSpPr>
        <p:spPr>
          <a:xfrm>
            <a:off x="2249461" y="4282049"/>
            <a:ext cx="1365573" cy="461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>
                <a:solidFill>
                  <a:srgbClr val="A7A7A7"/>
                </a:solidFill>
              </a:defRPr>
            </a:lvl1pPr>
          </a:lstStyle>
          <a:p>
            <a:pPr/>
            <a:r>
              <a:t>계획 수립</a:t>
            </a:r>
          </a:p>
        </p:txBody>
      </p:sp>
      <p:sp>
        <p:nvSpPr>
          <p:cNvPr id="267" name="TextBox 29"/>
          <p:cNvSpPr txBox="1"/>
          <p:nvPr/>
        </p:nvSpPr>
        <p:spPr>
          <a:xfrm>
            <a:off x="3339157" y="6891922"/>
            <a:ext cx="2304440" cy="541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200"/>
              </a:lnSpc>
              <a:defRPr sz="30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테스트 및 검토</a:t>
            </a:r>
          </a:p>
        </p:txBody>
      </p:sp>
      <p:sp>
        <p:nvSpPr>
          <p:cNvPr id="268" name="TextBox 30"/>
          <p:cNvSpPr txBox="1"/>
          <p:nvPr/>
        </p:nvSpPr>
        <p:spPr>
          <a:xfrm>
            <a:off x="4838751" y="4282049"/>
            <a:ext cx="2231327" cy="91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</a:defRPr>
            </a:lvl1pPr>
          </a:lstStyle>
          <a:p>
            <a:pPr/>
            <a:r>
              <a:t>SA 문서 작성 및 Entity 설계 </a:t>
            </a:r>
          </a:p>
        </p:txBody>
      </p:sp>
      <p:sp>
        <p:nvSpPr>
          <p:cNvPr id="269" name="TextBox 31"/>
          <p:cNvSpPr txBox="1"/>
          <p:nvPr/>
        </p:nvSpPr>
        <p:spPr>
          <a:xfrm>
            <a:off x="7928292" y="4282049"/>
            <a:ext cx="2096581" cy="91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</a:defRPr>
            </a:pPr>
            <a:r>
              <a:t>역할 분담 및</a:t>
            </a:r>
          </a:p>
          <a:p>
            <a: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</a:defRPr>
            </a:pPr>
            <a:r>
              <a:t>기능 구현</a:t>
            </a:r>
          </a:p>
        </p:txBody>
      </p:sp>
      <p:sp>
        <p:nvSpPr>
          <p:cNvPr id="270" name="TextBox 32"/>
          <p:cNvSpPr txBox="1"/>
          <p:nvPr/>
        </p:nvSpPr>
        <p:spPr>
          <a:xfrm>
            <a:off x="10950457" y="4282049"/>
            <a:ext cx="2096581" cy="461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/>
            </a:lvl1pPr>
          </a:lstStyle>
          <a:p>
            <a:pPr/>
            <a:r>
              <a:t>테스트 및 검토</a:t>
            </a:r>
          </a:p>
        </p:txBody>
      </p:sp>
      <p:sp>
        <p:nvSpPr>
          <p:cNvPr id="271" name="TextBox 33"/>
          <p:cNvSpPr txBox="1"/>
          <p:nvPr/>
        </p:nvSpPr>
        <p:spPr>
          <a:xfrm>
            <a:off x="13972624" y="4282049"/>
            <a:ext cx="2096581" cy="91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</a:defRPr>
            </a:lvl1pPr>
          </a:lstStyle>
          <a:p>
            <a:pPr/>
            <a:r>
              <a:t>CI/CD 구현 및 최종 테스트</a:t>
            </a:r>
          </a:p>
        </p:txBody>
      </p:sp>
      <p:sp>
        <p:nvSpPr>
          <p:cNvPr id="272" name="TextBox 34"/>
          <p:cNvSpPr txBox="1"/>
          <p:nvPr/>
        </p:nvSpPr>
        <p:spPr>
          <a:xfrm>
            <a:off x="6189378" y="7651162"/>
            <a:ext cx="10709229" cy="716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31801" indent="-215900">
              <a:buSzPct val="100000"/>
              <a:buFont typeface="Arial"/>
              <a:buChar char="•"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PortOne 실결제/취소 연동까지 포함한 테스트를 진행하여 결제 시나리오를 검증했으나 자동 테스트 구현이 미비하였던 점이 아쉬운 부분</a:t>
            </a:r>
          </a:p>
        </p:txBody>
      </p:sp>
      <p:sp>
        <p:nvSpPr>
          <p:cNvPr id="273" name="TextBox 35"/>
          <p:cNvSpPr txBox="1"/>
          <p:nvPr/>
        </p:nvSpPr>
        <p:spPr>
          <a:xfrm>
            <a:off x="6163848" y="6831597"/>
            <a:ext cx="11669799" cy="71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431801" indent="-215900">
              <a:buSzPct val="100000"/>
              <a:buFont typeface="Arial"/>
              <a:buChar char="•"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기능 개발 브랜치에서 주문 → 결제 → 취소까지 전체 플로우를 로컬 환경에서 </a:t>
            </a:r>
            <a:br/>
            <a:r>
              <a:t>테스트하며 최신 코드 기준으로 동작 검증</a:t>
            </a:r>
          </a:p>
        </p:txBody>
      </p:sp>
      <p:sp>
        <p:nvSpPr>
          <p:cNvPr id="274" name="TextBox 36"/>
          <p:cNvSpPr txBox="1"/>
          <p:nvPr/>
        </p:nvSpPr>
        <p:spPr>
          <a:xfrm>
            <a:off x="654050" y="1084025"/>
            <a:ext cx="2103166" cy="801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200"/>
              </a:lnSpc>
              <a:defRPr b="1" sz="45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타임라인</a:t>
            </a:r>
          </a:p>
        </p:txBody>
      </p:sp>
      <p:sp>
        <p:nvSpPr>
          <p:cNvPr id="275" name="TextBox 26"/>
          <p:cNvSpPr txBox="1"/>
          <p:nvPr/>
        </p:nvSpPr>
        <p:spPr>
          <a:xfrm>
            <a:off x="687867" y="606425"/>
            <a:ext cx="2971526" cy="4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b="1" sz="24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결제 시스템 프로젝트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AutoShape 2"/>
          <p:cNvSpPr/>
          <p:nvPr/>
        </p:nvSpPr>
        <p:spPr>
          <a:xfrm>
            <a:off x="507221" y="9779778"/>
            <a:ext cx="17273558" cy="1"/>
          </a:xfrm>
          <a:prstGeom prst="line">
            <a:avLst/>
          </a:prstGeom>
          <a:ln>
            <a:solidFill>
              <a:srgbClr val="AFAFAF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8" name="AutoShape 3"/>
          <p:cNvSpPr/>
          <p:nvPr/>
        </p:nvSpPr>
        <p:spPr>
          <a:xfrm>
            <a:off x="3645701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9" name="AutoShape 4"/>
          <p:cNvSpPr/>
          <p:nvPr/>
        </p:nvSpPr>
        <p:spPr>
          <a:xfrm>
            <a:off x="6667866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0" name="Freeform 6"/>
          <p:cNvSpPr/>
          <p:nvPr/>
        </p:nvSpPr>
        <p:spPr>
          <a:xfrm>
            <a:off x="14307462" y="2760372"/>
            <a:ext cx="1426906" cy="1365554"/>
          </a:xfrm>
          <a:prstGeom prst="ellipse">
            <a:avLst/>
          </a:prstGeom>
          <a:solidFill>
            <a:srgbClr val="EB1D26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Freeform 9"/>
          <p:cNvSpPr/>
          <p:nvPr/>
        </p:nvSpPr>
        <p:spPr>
          <a:xfrm>
            <a:off x="5240961" y="2764496"/>
            <a:ext cx="1426906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2" name="Freeform 12"/>
          <p:cNvSpPr/>
          <p:nvPr/>
        </p:nvSpPr>
        <p:spPr>
          <a:xfrm>
            <a:off x="8263128" y="2764496"/>
            <a:ext cx="1426907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Freeform 15"/>
          <p:cNvSpPr/>
          <p:nvPr/>
        </p:nvSpPr>
        <p:spPr>
          <a:xfrm>
            <a:off x="11285294" y="2764496"/>
            <a:ext cx="1426906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4" name="Freeform 18"/>
          <p:cNvSpPr/>
          <p:nvPr/>
        </p:nvSpPr>
        <p:spPr>
          <a:xfrm>
            <a:off x="2218795" y="2760372"/>
            <a:ext cx="1426907" cy="1365554"/>
          </a:xfrm>
          <a:prstGeom prst="ellipse">
            <a:avLst/>
          </a:prstGeom>
          <a:solidFill>
            <a:srgbClr val="FAFAFA">
              <a:alpha val="29804"/>
            </a:srgbClr>
          </a:solidFill>
          <a:ln cap="sq">
            <a:solidFill>
              <a:srgbClr val="000000">
                <a:alpha val="29804"/>
              </a:srgbClr>
            </a:solidFill>
            <a:miter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5" name="AutoShape 20"/>
          <p:cNvSpPr/>
          <p:nvPr/>
        </p:nvSpPr>
        <p:spPr>
          <a:xfrm>
            <a:off x="9690034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AutoShape 21"/>
          <p:cNvSpPr/>
          <p:nvPr/>
        </p:nvSpPr>
        <p:spPr>
          <a:xfrm>
            <a:off x="12712200" y="3443149"/>
            <a:ext cx="1595263" cy="1"/>
          </a:xfrm>
          <a:prstGeom prst="line">
            <a:avLst/>
          </a:prstGeom>
          <a:ln>
            <a:solidFill>
              <a:srgbClr val="000000">
                <a:alpha val="29804"/>
              </a:srgbClr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TextBox 22"/>
          <p:cNvSpPr txBox="1"/>
          <p:nvPr/>
        </p:nvSpPr>
        <p:spPr>
          <a:xfrm>
            <a:off x="6163848" y="6301373"/>
            <a:ext cx="1877989" cy="3606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marL="431801" indent="-215900">
              <a:buSzPct val="100000"/>
              <a:buFont typeface="Arial"/>
              <a:buChar char="•"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</p:txBody>
      </p:sp>
      <p:sp>
        <p:nvSpPr>
          <p:cNvPr id="288" name="TextBox 23"/>
          <p:cNvSpPr txBox="1"/>
          <p:nvPr/>
        </p:nvSpPr>
        <p:spPr>
          <a:xfrm>
            <a:off x="2593718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B8B8B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89" name="TextBox 24"/>
          <p:cNvSpPr txBox="1"/>
          <p:nvPr/>
        </p:nvSpPr>
        <p:spPr>
          <a:xfrm>
            <a:off x="5615883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000000">
                    <a:alpha val="2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90" name="TextBox 25"/>
          <p:cNvSpPr txBox="1"/>
          <p:nvPr/>
        </p:nvSpPr>
        <p:spPr>
          <a:xfrm>
            <a:off x="8638051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000000">
                    <a:alpha val="2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91" name="TextBox 26"/>
          <p:cNvSpPr txBox="1"/>
          <p:nvPr/>
        </p:nvSpPr>
        <p:spPr>
          <a:xfrm>
            <a:off x="11660216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000000">
                    <a:alpha val="2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92" name="TextBox 27"/>
          <p:cNvSpPr txBox="1"/>
          <p:nvPr/>
        </p:nvSpPr>
        <p:spPr>
          <a:xfrm>
            <a:off x="14682384" y="3032922"/>
            <a:ext cx="677062" cy="73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sz="4300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293" name="TextBox 28"/>
          <p:cNvSpPr txBox="1"/>
          <p:nvPr/>
        </p:nvSpPr>
        <p:spPr>
          <a:xfrm>
            <a:off x="2249461" y="4282049"/>
            <a:ext cx="1365573" cy="461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>
                <a:solidFill>
                  <a:srgbClr val="A7A7A7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defRPr>
            </a:lvl1pPr>
          </a:lstStyle>
          <a:p>
            <a:pPr/>
            <a:r>
              <a:t>계획 수립</a:t>
            </a:r>
          </a:p>
        </p:txBody>
      </p:sp>
      <p:sp>
        <p:nvSpPr>
          <p:cNvPr id="294" name="TextBox 29"/>
          <p:cNvSpPr txBox="1"/>
          <p:nvPr/>
        </p:nvSpPr>
        <p:spPr>
          <a:xfrm>
            <a:off x="3045144" y="6474727"/>
            <a:ext cx="2796376" cy="107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4200"/>
              </a:lnSpc>
              <a:defRPr sz="30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CI / CD 구현 및 </a:t>
            </a:r>
          </a:p>
          <a:p>
            <a:pPr algn="ctr">
              <a:lnSpc>
                <a:spcPts val="4200"/>
              </a:lnSpc>
              <a:defRPr sz="30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최종 테스트</a:t>
            </a:r>
          </a:p>
        </p:txBody>
      </p:sp>
      <p:sp>
        <p:nvSpPr>
          <p:cNvPr id="295" name="TextBox 30"/>
          <p:cNvSpPr txBox="1"/>
          <p:nvPr/>
        </p:nvSpPr>
        <p:spPr>
          <a:xfrm>
            <a:off x="4838751" y="4282049"/>
            <a:ext cx="2231327" cy="91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defRPr>
            </a:lvl1pPr>
          </a:lstStyle>
          <a:p>
            <a:pPr/>
            <a:r>
              <a:t>SA 문서 작성 및 Entity 설계 </a:t>
            </a:r>
          </a:p>
        </p:txBody>
      </p:sp>
      <p:sp>
        <p:nvSpPr>
          <p:cNvPr id="296" name="TextBox 31"/>
          <p:cNvSpPr txBox="1"/>
          <p:nvPr/>
        </p:nvSpPr>
        <p:spPr>
          <a:xfrm>
            <a:off x="7928292" y="4282049"/>
            <a:ext cx="2096581" cy="91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defRPr>
            </a:pPr>
            <a:r>
              <a:t>역할 분담 및</a:t>
            </a:r>
          </a:p>
          <a:p>
            <a: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defRPr>
            </a:pPr>
            <a:r>
              <a:t>기능 구현</a:t>
            </a:r>
          </a:p>
        </p:txBody>
      </p:sp>
      <p:sp>
        <p:nvSpPr>
          <p:cNvPr id="297" name="TextBox 32"/>
          <p:cNvSpPr txBox="1"/>
          <p:nvPr/>
        </p:nvSpPr>
        <p:spPr>
          <a:xfrm>
            <a:off x="10950457" y="4282049"/>
            <a:ext cx="2096581" cy="461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>
                <a:solidFill>
                  <a:srgbClr val="000000">
                    <a:alpha val="29804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defRPr>
            </a:lvl1pPr>
          </a:lstStyle>
          <a:p>
            <a:pPr/>
            <a:r>
              <a:t>테스트 및 검토</a:t>
            </a:r>
          </a:p>
        </p:txBody>
      </p:sp>
      <p:sp>
        <p:nvSpPr>
          <p:cNvPr id="298" name="TextBox 33"/>
          <p:cNvSpPr txBox="1"/>
          <p:nvPr/>
        </p:nvSpPr>
        <p:spPr>
          <a:xfrm>
            <a:off x="13972624" y="4282049"/>
            <a:ext cx="2096581" cy="918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600"/>
              </a:lnSpc>
              <a:defRPr b="1" sz="2500">
                <a:latin typeface="Source Han Sans KR Medium"/>
                <a:ea typeface="Source Han Sans KR Medium"/>
                <a:cs typeface="Source Han Sans KR Medium"/>
                <a:sym typeface="Source Han Sans KR Medium"/>
              </a:defRPr>
            </a:lvl1pPr>
          </a:lstStyle>
          <a:p>
            <a:pPr/>
            <a:r>
              <a:t>CI/CD 구현 및 최종 테스트</a:t>
            </a:r>
          </a:p>
        </p:txBody>
      </p:sp>
      <p:sp>
        <p:nvSpPr>
          <p:cNvPr id="299" name="TextBox 34"/>
          <p:cNvSpPr txBox="1"/>
          <p:nvPr/>
        </p:nvSpPr>
        <p:spPr>
          <a:xfrm>
            <a:off x="6163848" y="7361822"/>
            <a:ext cx="8837660" cy="3606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marL="431801" indent="-215900">
              <a:buSzPct val="100000"/>
              <a:buFont typeface="Arial"/>
              <a:buChar char="•"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</p:txBody>
      </p:sp>
      <p:sp>
        <p:nvSpPr>
          <p:cNvPr id="300" name="TextBox 35"/>
          <p:cNvSpPr txBox="1"/>
          <p:nvPr/>
        </p:nvSpPr>
        <p:spPr>
          <a:xfrm>
            <a:off x="6163848" y="6831597"/>
            <a:ext cx="3357712" cy="3606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marL="431801" indent="-215900">
              <a:buSzPct val="100000"/>
              <a:buFont typeface="Arial"/>
              <a:buChar char="•"/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</p:txBody>
      </p:sp>
      <p:sp>
        <p:nvSpPr>
          <p:cNvPr id="301" name="TextBox 36"/>
          <p:cNvSpPr txBox="1"/>
          <p:nvPr/>
        </p:nvSpPr>
        <p:spPr>
          <a:xfrm>
            <a:off x="654050" y="1084025"/>
            <a:ext cx="2103166" cy="801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200"/>
              </a:lnSpc>
              <a:defRPr b="1" sz="45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타임라인</a:t>
            </a:r>
          </a:p>
        </p:txBody>
      </p:sp>
      <p:sp>
        <p:nvSpPr>
          <p:cNvPr id="302" name="TextBox 26"/>
          <p:cNvSpPr txBox="1"/>
          <p:nvPr/>
        </p:nvSpPr>
        <p:spPr>
          <a:xfrm>
            <a:off x="687867" y="606425"/>
            <a:ext cx="2971526" cy="4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b="1" sz="24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결제 시스템 프로젝트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AutoShape 2"/>
          <p:cNvSpPr/>
          <p:nvPr/>
        </p:nvSpPr>
        <p:spPr>
          <a:xfrm>
            <a:off x="507221" y="9779778"/>
            <a:ext cx="17273558" cy="1"/>
          </a:xfrm>
          <a:prstGeom prst="line">
            <a:avLst/>
          </a:prstGeom>
          <a:ln>
            <a:solidFill>
              <a:srgbClr val="AFAFAF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5" name="TextBox 23"/>
          <p:cNvSpPr txBox="1"/>
          <p:nvPr/>
        </p:nvSpPr>
        <p:spPr>
          <a:xfrm>
            <a:off x="654049" y="1084025"/>
            <a:ext cx="2263157" cy="801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200"/>
              </a:lnSpc>
              <a:defRPr b="1" sz="45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구현 영상</a:t>
            </a:r>
          </a:p>
        </p:txBody>
      </p:sp>
      <p:sp>
        <p:nvSpPr>
          <p:cNvPr id="306" name="TextBox 26"/>
          <p:cNvSpPr txBox="1"/>
          <p:nvPr/>
        </p:nvSpPr>
        <p:spPr>
          <a:xfrm>
            <a:off x="687867" y="606425"/>
            <a:ext cx="2971526" cy="4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b="1" sz="24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결제 시스템 프로젝트</a:t>
            </a:r>
          </a:p>
        </p:txBody>
      </p:sp>
      <p:sp>
        <p:nvSpPr>
          <p:cNvPr id="307" name="영상 담기"/>
          <p:cNvSpPr txBox="1"/>
          <p:nvPr/>
        </p:nvSpPr>
        <p:spPr>
          <a:xfrm>
            <a:off x="8762365" y="4917439"/>
            <a:ext cx="1053550" cy="452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영상 담기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AutoShape 2"/>
          <p:cNvSpPr/>
          <p:nvPr/>
        </p:nvSpPr>
        <p:spPr>
          <a:xfrm>
            <a:off x="507221" y="9779778"/>
            <a:ext cx="17273558" cy="1"/>
          </a:xfrm>
          <a:prstGeom prst="line">
            <a:avLst/>
          </a:prstGeom>
          <a:ln>
            <a:solidFill>
              <a:srgbClr val="AFAFAF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0" name="TextBox 23"/>
          <p:cNvSpPr txBox="1"/>
          <p:nvPr/>
        </p:nvSpPr>
        <p:spPr>
          <a:xfrm>
            <a:off x="654049" y="1084025"/>
            <a:ext cx="2618677" cy="801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200"/>
              </a:lnSpc>
              <a:defRPr b="1" sz="45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트러블슈팅</a:t>
            </a:r>
          </a:p>
        </p:txBody>
      </p:sp>
      <p:sp>
        <p:nvSpPr>
          <p:cNvPr id="311" name="TextBox 26"/>
          <p:cNvSpPr txBox="1"/>
          <p:nvPr/>
        </p:nvSpPr>
        <p:spPr>
          <a:xfrm>
            <a:off x="687867" y="606425"/>
            <a:ext cx="2971526" cy="4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b="1" sz="24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결제 시스템 프로젝트</a:t>
            </a:r>
          </a:p>
        </p:txBody>
      </p:sp>
      <p:sp>
        <p:nvSpPr>
          <p:cNvPr id="312" name="Freeform 4"/>
          <p:cNvSpPr/>
          <p:nvPr/>
        </p:nvSpPr>
        <p:spPr>
          <a:xfrm>
            <a:off x="724169" y="2054467"/>
            <a:ext cx="16839662" cy="75514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5" y="0"/>
                </a:moveTo>
                <a:lnTo>
                  <a:pt x="21345" y="0"/>
                </a:lnTo>
                <a:cubicBezTo>
                  <a:pt x="21413" y="0"/>
                  <a:pt x="21478" y="54"/>
                  <a:pt x="21525" y="151"/>
                </a:cubicBezTo>
                <a:cubicBezTo>
                  <a:pt x="21573" y="248"/>
                  <a:pt x="21600" y="380"/>
                  <a:pt x="21600" y="517"/>
                </a:cubicBezTo>
                <a:lnTo>
                  <a:pt x="21600" y="21083"/>
                </a:lnTo>
                <a:cubicBezTo>
                  <a:pt x="21600" y="21220"/>
                  <a:pt x="21573" y="21352"/>
                  <a:pt x="21525" y="21449"/>
                </a:cubicBezTo>
                <a:cubicBezTo>
                  <a:pt x="21478" y="21546"/>
                  <a:pt x="21413" y="21600"/>
                  <a:pt x="21345" y="21600"/>
                </a:cubicBezTo>
                <a:lnTo>
                  <a:pt x="255" y="21600"/>
                </a:lnTo>
                <a:cubicBezTo>
                  <a:pt x="187" y="21600"/>
                  <a:pt x="122" y="21546"/>
                  <a:pt x="75" y="21449"/>
                </a:cubicBezTo>
                <a:cubicBezTo>
                  <a:pt x="27" y="21352"/>
                  <a:pt x="0" y="21220"/>
                  <a:pt x="0" y="21083"/>
                </a:cubicBezTo>
                <a:lnTo>
                  <a:pt x="0" y="517"/>
                </a:lnTo>
                <a:cubicBezTo>
                  <a:pt x="0" y="380"/>
                  <a:pt x="27" y="248"/>
                  <a:pt x="75" y="151"/>
                </a:cubicBezTo>
                <a:cubicBezTo>
                  <a:pt x="122" y="54"/>
                  <a:pt x="187" y="0"/>
                  <a:pt x="255" y="0"/>
                </a:cubicBezTo>
                <a:close/>
              </a:path>
            </a:pathLst>
          </a:custGeom>
          <a:solidFill>
            <a:srgbClr val="AFAFAF">
              <a:alpha val="29804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AutoShape 2"/>
          <p:cNvSpPr/>
          <p:nvPr/>
        </p:nvSpPr>
        <p:spPr>
          <a:xfrm>
            <a:off x="507221" y="9779778"/>
            <a:ext cx="17254508" cy="1"/>
          </a:xfrm>
          <a:prstGeom prst="line">
            <a:avLst/>
          </a:prstGeom>
          <a:ln>
            <a:solidFill>
              <a:srgbClr val="AFAFAF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5" name="Freeform 4"/>
          <p:cNvSpPr/>
          <p:nvPr/>
        </p:nvSpPr>
        <p:spPr>
          <a:xfrm>
            <a:off x="618006" y="1886100"/>
            <a:ext cx="17126672" cy="77194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5" y="0"/>
                </a:moveTo>
                <a:lnTo>
                  <a:pt x="21345" y="0"/>
                </a:lnTo>
                <a:cubicBezTo>
                  <a:pt x="21413" y="0"/>
                  <a:pt x="21478" y="54"/>
                  <a:pt x="21525" y="151"/>
                </a:cubicBezTo>
                <a:cubicBezTo>
                  <a:pt x="21573" y="248"/>
                  <a:pt x="21600" y="380"/>
                  <a:pt x="21600" y="517"/>
                </a:cubicBezTo>
                <a:lnTo>
                  <a:pt x="21600" y="21083"/>
                </a:lnTo>
                <a:cubicBezTo>
                  <a:pt x="21600" y="21220"/>
                  <a:pt x="21573" y="21352"/>
                  <a:pt x="21525" y="21449"/>
                </a:cubicBezTo>
                <a:cubicBezTo>
                  <a:pt x="21478" y="21546"/>
                  <a:pt x="21413" y="21600"/>
                  <a:pt x="21345" y="21600"/>
                </a:cubicBezTo>
                <a:lnTo>
                  <a:pt x="255" y="21600"/>
                </a:lnTo>
                <a:cubicBezTo>
                  <a:pt x="187" y="21600"/>
                  <a:pt x="122" y="21546"/>
                  <a:pt x="75" y="21449"/>
                </a:cubicBezTo>
                <a:cubicBezTo>
                  <a:pt x="27" y="21352"/>
                  <a:pt x="0" y="21220"/>
                  <a:pt x="0" y="21083"/>
                </a:cubicBezTo>
                <a:lnTo>
                  <a:pt x="0" y="517"/>
                </a:lnTo>
                <a:cubicBezTo>
                  <a:pt x="0" y="380"/>
                  <a:pt x="27" y="248"/>
                  <a:pt x="75" y="151"/>
                </a:cubicBezTo>
                <a:cubicBezTo>
                  <a:pt x="122" y="54"/>
                  <a:pt x="187" y="0"/>
                  <a:pt x="255" y="0"/>
                </a:cubicBezTo>
                <a:close/>
              </a:path>
            </a:pathLst>
          </a:custGeom>
          <a:solidFill>
            <a:srgbClr val="AFAFAF">
              <a:alpha val="29804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6" name="Freeform 9"/>
          <p:cNvSpPr/>
          <p:nvPr/>
        </p:nvSpPr>
        <p:spPr>
          <a:xfrm>
            <a:off x="1123377" y="2391756"/>
            <a:ext cx="441115" cy="41384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7" name="Freeform 10"/>
          <p:cNvSpPr/>
          <p:nvPr/>
        </p:nvSpPr>
        <p:spPr>
          <a:xfrm>
            <a:off x="1123377" y="3295107"/>
            <a:ext cx="441115" cy="41384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8" name="Freeform 11"/>
          <p:cNvSpPr/>
          <p:nvPr/>
        </p:nvSpPr>
        <p:spPr>
          <a:xfrm>
            <a:off x="1123377" y="4203157"/>
            <a:ext cx="441115" cy="41384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9" name="TextBox 12"/>
          <p:cNvSpPr txBox="1"/>
          <p:nvPr/>
        </p:nvSpPr>
        <p:spPr>
          <a:xfrm>
            <a:off x="654049" y="1084025"/>
            <a:ext cx="6381710" cy="761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200"/>
              </a:lnSpc>
              <a:defRPr b="1" sz="45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Lesson Learned</a:t>
            </a:r>
          </a:p>
        </p:txBody>
      </p:sp>
      <p:sp>
        <p:nvSpPr>
          <p:cNvPr id="320" name="TextBox 18"/>
          <p:cNvSpPr txBox="1"/>
          <p:nvPr/>
        </p:nvSpPr>
        <p:spPr>
          <a:xfrm>
            <a:off x="1944164" y="2220853"/>
            <a:ext cx="5100043" cy="707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b="1" sz="39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가나다라</a:t>
            </a:r>
          </a:p>
        </p:txBody>
      </p:sp>
      <p:sp>
        <p:nvSpPr>
          <p:cNvPr id="321" name="TextBox 26"/>
          <p:cNvSpPr txBox="1"/>
          <p:nvPr/>
        </p:nvSpPr>
        <p:spPr>
          <a:xfrm>
            <a:off x="687867" y="606425"/>
            <a:ext cx="2971526" cy="4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b="1" sz="24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결제 시스템 프로젝트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AutoShape 2"/>
          <p:cNvSpPr/>
          <p:nvPr/>
        </p:nvSpPr>
        <p:spPr>
          <a:xfrm>
            <a:off x="507221" y="9779778"/>
            <a:ext cx="17273558" cy="1"/>
          </a:xfrm>
          <a:prstGeom prst="line">
            <a:avLst/>
          </a:prstGeom>
          <a:ln>
            <a:solidFill>
              <a:srgbClr val="AFAFAF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4" name="Freeform 4"/>
          <p:cNvSpPr/>
          <p:nvPr/>
        </p:nvSpPr>
        <p:spPr>
          <a:xfrm>
            <a:off x="2391431" y="5792839"/>
            <a:ext cx="5621800" cy="26114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22" y="0"/>
                </a:moveTo>
                <a:lnTo>
                  <a:pt x="21178" y="0"/>
                </a:lnTo>
                <a:cubicBezTo>
                  <a:pt x="21411" y="0"/>
                  <a:pt x="21600" y="407"/>
                  <a:pt x="21600" y="908"/>
                </a:cubicBezTo>
                <a:lnTo>
                  <a:pt x="21600" y="20692"/>
                </a:lnTo>
                <a:cubicBezTo>
                  <a:pt x="21600" y="20933"/>
                  <a:pt x="21556" y="21164"/>
                  <a:pt x="21476" y="21334"/>
                </a:cubicBezTo>
                <a:cubicBezTo>
                  <a:pt x="21397" y="21504"/>
                  <a:pt x="21290" y="21600"/>
                  <a:pt x="21178" y="21600"/>
                </a:cubicBezTo>
                <a:lnTo>
                  <a:pt x="422" y="21600"/>
                </a:lnTo>
                <a:cubicBezTo>
                  <a:pt x="189" y="21600"/>
                  <a:pt x="0" y="21193"/>
                  <a:pt x="0" y="20692"/>
                </a:cubicBezTo>
                <a:lnTo>
                  <a:pt x="0" y="908"/>
                </a:lnTo>
                <a:cubicBezTo>
                  <a:pt x="0" y="407"/>
                  <a:pt x="189" y="0"/>
                  <a:pt x="422" y="0"/>
                </a:cubicBezTo>
                <a:close/>
              </a:path>
            </a:pathLst>
          </a:custGeom>
          <a:solidFill>
            <a:srgbClr val="AFAFAF">
              <a:alpha val="29804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5" name="Freeform 7"/>
          <p:cNvSpPr/>
          <p:nvPr/>
        </p:nvSpPr>
        <p:spPr>
          <a:xfrm>
            <a:off x="9567928" y="5792839"/>
            <a:ext cx="5621799" cy="26114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22" y="0"/>
                </a:moveTo>
                <a:lnTo>
                  <a:pt x="21178" y="0"/>
                </a:lnTo>
                <a:cubicBezTo>
                  <a:pt x="21411" y="0"/>
                  <a:pt x="21600" y="407"/>
                  <a:pt x="21600" y="908"/>
                </a:cubicBezTo>
                <a:lnTo>
                  <a:pt x="21600" y="20692"/>
                </a:lnTo>
                <a:cubicBezTo>
                  <a:pt x="21600" y="20933"/>
                  <a:pt x="21556" y="21164"/>
                  <a:pt x="21476" y="21334"/>
                </a:cubicBezTo>
                <a:cubicBezTo>
                  <a:pt x="21397" y="21504"/>
                  <a:pt x="21290" y="21600"/>
                  <a:pt x="21178" y="21600"/>
                </a:cubicBezTo>
                <a:lnTo>
                  <a:pt x="422" y="21600"/>
                </a:lnTo>
                <a:cubicBezTo>
                  <a:pt x="189" y="21600"/>
                  <a:pt x="0" y="21193"/>
                  <a:pt x="0" y="20692"/>
                </a:cubicBezTo>
                <a:lnTo>
                  <a:pt x="0" y="908"/>
                </a:lnTo>
                <a:cubicBezTo>
                  <a:pt x="0" y="407"/>
                  <a:pt x="189" y="0"/>
                  <a:pt x="422" y="0"/>
                </a:cubicBezTo>
                <a:close/>
              </a:path>
            </a:pathLst>
          </a:custGeom>
          <a:solidFill>
            <a:srgbClr val="AFAFAF">
              <a:alpha val="29804"/>
            </a:srgbClr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329" name="Group 9"/>
          <p:cNvGrpSpPr/>
          <p:nvPr/>
        </p:nvGrpSpPr>
        <p:grpSpPr>
          <a:xfrm>
            <a:off x="3419407" y="6464205"/>
            <a:ext cx="3565849" cy="1302576"/>
            <a:chOff x="0" y="0"/>
            <a:chExt cx="3565847" cy="1302574"/>
          </a:xfrm>
        </p:grpSpPr>
        <p:sp>
          <p:nvSpPr>
            <p:cNvPr id="326" name="Freeform 11"/>
            <p:cNvSpPr/>
            <p:nvPr/>
          </p:nvSpPr>
          <p:spPr>
            <a:xfrm>
              <a:off x="0" y="0"/>
              <a:ext cx="1196640" cy="5753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93" y="0"/>
                  </a:moveTo>
                  <a:lnTo>
                    <a:pt x="16407" y="0"/>
                  </a:lnTo>
                  <a:cubicBezTo>
                    <a:pt x="19275" y="0"/>
                    <a:pt x="21600" y="4835"/>
                    <a:pt x="21600" y="10800"/>
                  </a:cubicBezTo>
                  <a:cubicBezTo>
                    <a:pt x="21600" y="13664"/>
                    <a:pt x="21053" y="16411"/>
                    <a:pt x="20079" y="18437"/>
                  </a:cubicBezTo>
                  <a:cubicBezTo>
                    <a:pt x="19105" y="20462"/>
                    <a:pt x="17784" y="21600"/>
                    <a:pt x="16407" y="21600"/>
                  </a:cubicBezTo>
                  <a:lnTo>
                    <a:pt x="5193" y="21600"/>
                  </a:lnTo>
                  <a:cubicBezTo>
                    <a:pt x="2325" y="21600"/>
                    <a:pt x="0" y="16765"/>
                    <a:pt x="0" y="10800"/>
                  </a:cubicBezTo>
                  <a:cubicBezTo>
                    <a:pt x="0" y="4835"/>
                    <a:pt x="2325" y="0"/>
                    <a:pt x="5193" y="0"/>
                  </a:cubicBezTo>
                  <a:close/>
                </a:path>
              </a:pathLst>
            </a:custGeom>
            <a:solidFill>
              <a:srgbClr val="EB1D2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00000"/>
                </a:lnSpc>
                <a:defRPr sz="1800"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327" name="TextBox 13"/>
            <p:cNvSpPr txBox="1"/>
            <p:nvPr/>
          </p:nvSpPr>
          <p:spPr>
            <a:xfrm>
              <a:off x="326375" y="101154"/>
              <a:ext cx="555278" cy="6299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2500"/>
                </a:lnSpc>
                <a:defRPr b="1">
                  <a:solidFill>
                    <a:srgbClr val="F9F3EF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defRPr>
              </a:lvl1pPr>
            </a:lstStyle>
            <a:p>
              <a:pPr/>
              <a:r>
                <a:t>목표1</a:t>
              </a:r>
            </a:p>
          </p:txBody>
        </p:sp>
        <p:sp>
          <p:nvSpPr>
            <p:cNvPr id="328" name="TextBox 14"/>
            <p:cNvSpPr txBox="1"/>
            <p:nvPr/>
          </p:nvSpPr>
          <p:spPr>
            <a:xfrm>
              <a:off x="0" y="761554"/>
              <a:ext cx="3565848" cy="5410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4200"/>
                </a:lnSpc>
                <a:defRPr b="1" sz="3000">
                  <a:latin typeface="Source Han Sans KR Medium"/>
                  <a:ea typeface="Source Han Sans KR Medium"/>
                  <a:cs typeface="Source Han Sans KR Medium"/>
                  <a:sym typeface="Source Han Sans KR Medium"/>
                </a:defRPr>
              </a:lvl1pPr>
            </a:lstStyle>
            <a:p>
              <a:pPr/>
              <a:r>
                <a:t>시장 점유율 15% 증가</a:t>
              </a:r>
            </a:p>
          </p:txBody>
        </p:sp>
      </p:grpSp>
      <p:grpSp>
        <p:nvGrpSpPr>
          <p:cNvPr id="333" name="Group 15"/>
          <p:cNvGrpSpPr/>
          <p:nvPr/>
        </p:nvGrpSpPr>
        <p:grpSpPr>
          <a:xfrm>
            <a:off x="10420657" y="6493709"/>
            <a:ext cx="3916339" cy="1243567"/>
            <a:chOff x="0" y="0"/>
            <a:chExt cx="3916338" cy="1243566"/>
          </a:xfrm>
        </p:grpSpPr>
        <p:sp>
          <p:nvSpPr>
            <p:cNvPr id="330" name="Freeform 17"/>
            <p:cNvSpPr/>
            <p:nvPr/>
          </p:nvSpPr>
          <p:spPr>
            <a:xfrm>
              <a:off x="0" y="0"/>
              <a:ext cx="1196640" cy="5753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193" y="0"/>
                  </a:moveTo>
                  <a:lnTo>
                    <a:pt x="16407" y="0"/>
                  </a:lnTo>
                  <a:cubicBezTo>
                    <a:pt x="19275" y="0"/>
                    <a:pt x="21600" y="4835"/>
                    <a:pt x="21600" y="10800"/>
                  </a:cubicBezTo>
                  <a:cubicBezTo>
                    <a:pt x="21600" y="13664"/>
                    <a:pt x="21053" y="16411"/>
                    <a:pt x="20079" y="18437"/>
                  </a:cubicBezTo>
                  <a:cubicBezTo>
                    <a:pt x="19105" y="20462"/>
                    <a:pt x="17784" y="21600"/>
                    <a:pt x="16407" y="21600"/>
                  </a:cubicBezTo>
                  <a:lnTo>
                    <a:pt x="5193" y="21600"/>
                  </a:lnTo>
                  <a:cubicBezTo>
                    <a:pt x="2325" y="21600"/>
                    <a:pt x="0" y="16765"/>
                    <a:pt x="0" y="10800"/>
                  </a:cubicBezTo>
                  <a:cubicBezTo>
                    <a:pt x="0" y="4835"/>
                    <a:pt x="2325" y="0"/>
                    <a:pt x="5193" y="0"/>
                  </a:cubicBezTo>
                  <a:close/>
                </a:path>
              </a:pathLst>
            </a:custGeom>
            <a:solidFill>
              <a:srgbClr val="EB1D2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100000"/>
                </a:lnSpc>
                <a:defRPr sz="1800"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331" name="TextBox 19"/>
            <p:cNvSpPr txBox="1"/>
            <p:nvPr/>
          </p:nvSpPr>
          <p:spPr>
            <a:xfrm>
              <a:off x="326375" y="101154"/>
              <a:ext cx="555278" cy="6299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2500"/>
                </a:lnSpc>
                <a:defRPr b="1">
                  <a:solidFill>
                    <a:srgbClr val="F9F3EF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defRPr>
              </a:lvl1pPr>
            </a:lstStyle>
            <a:p>
              <a:pPr/>
              <a:r>
                <a:t>목표2</a:t>
              </a:r>
            </a:p>
          </p:txBody>
        </p:sp>
        <p:sp>
          <p:nvSpPr>
            <p:cNvPr id="332" name="TextBox 20"/>
            <p:cNvSpPr txBox="1"/>
            <p:nvPr/>
          </p:nvSpPr>
          <p:spPr>
            <a:xfrm>
              <a:off x="0" y="702545"/>
              <a:ext cx="3916339" cy="5410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4200"/>
                </a:lnSpc>
                <a:defRPr b="1" sz="3000">
                  <a:latin typeface="Source Han Sans KR Medium"/>
                  <a:ea typeface="Source Han Sans KR Medium"/>
                  <a:cs typeface="Source Han Sans KR Medium"/>
                  <a:sym typeface="Source Han Sans KR Medium"/>
                </a:defRPr>
              </a:lvl1pPr>
            </a:lstStyle>
            <a:p>
              <a:pPr/>
              <a:r>
                <a:t>사용자 만족도 20% 향상</a:t>
              </a:r>
            </a:p>
          </p:txBody>
        </p:sp>
      </p:grpSp>
      <p:sp>
        <p:nvSpPr>
          <p:cNvPr id="334" name="Freeform 21"/>
          <p:cNvSpPr/>
          <p:nvPr/>
        </p:nvSpPr>
        <p:spPr>
          <a:xfrm>
            <a:off x="5112756" y="4651218"/>
            <a:ext cx="179151" cy="69881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Freeform 22"/>
          <p:cNvSpPr/>
          <p:nvPr/>
        </p:nvSpPr>
        <p:spPr>
          <a:xfrm>
            <a:off x="12289252" y="4581069"/>
            <a:ext cx="179151" cy="69881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6" name="TextBox 23"/>
          <p:cNvSpPr txBox="1"/>
          <p:nvPr/>
        </p:nvSpPr>
        <p:spPr>
          <a:xfrm>
            <a:off x="654050" y="1084025"/>
            <a:ext cx="3474766" cy="801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6200"/>
              </a:lnSpc>
              <a:defRPr b="1" sz="45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핵심 성과 지표</a:t>
            </a:r>
          </a:p>
        </p:txBody>
      </p:sp>
      <p:sp>
        <p:nvSpPr>
          <p:cNvPr id="337" name="TextBox 25"/>
          <p:cNvSpPr txBox="1"/>
          <p:nvPr/>
        </p:nvSpPr>
        <p:spPr>
          <a:xfrm>
            <a:off x="2418650" y="3388662"/>
            <a:ext cx="5567363" cy="707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5500"/>
              </a:lnSpc>
              <a:defRPr b="1" sz="3900">
                <a:solidFill>
                  <a:srgbClr val="EB1D26"/>
                </a:solidFill>
              </a:defRPr>
            </a:lvl1pPr>
          </a:lstStyle>
          <a:p>
            <a:pPr/>
            <a:r>
              <a:t>시장 점유율의 월별 증가율</a:t>
            </a:r>
          </a:p>
        </p:txBody>
      </p:sp>
      <p:sp>
        <p:nvSpPr>
          <p:cNvPr id="338" name="TextBox 26"/>
          <p:cNvSpPr txBox="1"/>
          <p:nvPr/>
        </p:nvSpPr>
        <p:spPr>
          <a:xfrm>
            <a:off x="9361485" y="3388662"/>
            <a:ext cx="6034685" cy="707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5500"/>
              </a:lnSpc>
              <a:defRPr b="1" sz="3900">
                <a:solidFill>
                  <a:srgbClr val="EB1D26"/>
                </a:solidFill>
              </a:defRPr>
            </a:lvl1pPr>
          </a:lstStyle>
          <a:p>
            <a:pPr/>
            <a:r>
              <a:t>새로운 사용자의 월별 증가율</a:t>
            </a:r>
          </a:p>
        </p:txBody>
      </p:sp>
      <p:sp>
        <p:nvSpPr>
          <p:cNvPr id="339" name="TextBox 26"/>
          <p:cNvSpPr txBox="1"/>
          <p:nvPr/>
        </p:nvSpPr>
        <p:spPr>
          <a:xfrm>
            <a:off x="687867" y="606425"/>
            <a:ext cx="2971526" cy="4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b="1" sz="2400">
                <a:solidFill>
                  <a:srgbClr val="EB1D2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결제 시스템 프로젝트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939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Box 2"/>
          <p:cNvSpPr txBox="1"/>
          <p:nvPr/>
        </p:nvSpPr>
        <p:spPr>
          <a:xfrm>
            <a:off x="7059923" y="4467352"/>
            <a:ext cx="4168156" cy="1276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9900"/>
              </a:lnSpc>
              <a:defRPr b="1" sz="7100">
                <a:solidFill>
                  <a:srgbClr val="FAFAFA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defRPr>
            </a:lvl1pPr>
          </a:lstStyle>
          <a:p>
            <a:pPr/>
            <a:r>
              <a:t>감사합니다</a:t>
            </a:r>
          </a:p>
        </p:txBody>
      </p:sp>
      <p:sp>
        <p:nvSpPr>
          <p:cNvPr id="342" name="Freeform 4"/>
          <p:cNvSpPr/>
          <p:nvPr/>
        </p:nvSpPr>
        <p:spPr>
          <a:xfrm>
            <a:off x="6721289" y="6106795"/>
            <a:ext cx="4845424" cy="709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751" y="0"/>
                </a:moveTo>
                <a:lnTo>
                  <a:pt x="18849" y="0"/>
                </a:lnTo>
                <a:cubicBezTo>
                  <a:pt x="19579" y="0"/>
                  <a:pt x="20278" y="1138"/>
                  <a:pt x="20794" y="3163"/>
                </a:cubicBezTo>
                <a:cubicBezTo>
                  <a:pt x="21310" y="5189"/>
                  <a:pt x="21600" y="7936"/>
                  <a:pt x="21600" y="10800"/>
                </a:cubicBezTo>
                <a:cubicBezTo>
                  <a:pt x="21600" y="13664"/>
                  <a:pt x="21310" y="16411"/>
                  <a:pt x="20794" y="18437"/>
                </a:cubicBezTo>
                <a:cubicBezTo>
                  <a:pt x="20278" y="20462"/>
                  <a:pt x="19579" y="21600"/>
                  <a:pt x="18849" y="21600"/>
                </a:cubicBezTo>
                <a:lnTo>
                  <a:pt x="2751" y="21600"/>
                </a:lnTo>
                <a:cubicBezTo>
                  <a:pt x="2021" y="21600"/>
                  <a:pt x="1322" y="20462"/>
                  <a:pt x="806" y="18437"/>
                </a:cubicBezTo>
                <a:cubicBezTo>
                  <a:pt x="290" y="16411"/>
                  <a:pt x="0" y="13664"/>
                  <a:pt x="0" y="10800"/>
                </a:cubicBezTo>
                <a:cubicBezTo>
                  <a:pt x="0" y="7936"/>
                  <a:pt x="290" y="5189"/>
                  <a:pt x="806" y="3163"/>
                </a:cubicBezTo>
                <a:cubicBezTo>
                  <a:pt x="1322" y="1138"/>
                  <a:pt x="2021" y="0"/>
                  <a:pt x="2751" y="0"/>
                </a:cubicBezTo>
                <a:close/>
              </a:path>
            </a:pathLst>
          </a:custGeom>
          <a:solidFill>
            <a:srgbClr val="EB1D26"/>
          </a:solidFill>
          <a:ln w="12700">
            <a:miter lim="400000"/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3" name="TextBox 6"/>
          <p:cNvSpPr txBox="1"/>
          <p:nvPr/>
        </p:nvSpPr>
        <p:spPr>
          <a:xfrm>
            <a:off x="7378990" y="6272750"/>
            <a:ext cx="3530022" cy="698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F9F3E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defRPr>
            </a:lvl1pPr>
          </a:lstStyle>
          <a:p>
            <a:pPr/>
            <a:r>
              <a:t>힘들지만 해낼거라 믿어야조☀️</a:t>
            </a:r>
          </a:p>
        </p:txBody>
      </p:sp>
      <p:sp>
        <p:nvSpPr>
          <p:cNvPr id="344" name="TextBox 7"/>
          <p:cNvSpPr txBox="1"/>
          <p:nvPr/>
        </p:nvSpPr>
        <p:spPr>
          <a:xfrm>
            <a:off x="16006613" y="990600"/>
            <a:ext cx="1252687" cy="342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>
                <a:solidFill>
                  <a:srgbClr val="FAFAFA"/>
                </a:solidFill>
              </a:defRPr>
            </a:lvl1pPr>
          </a:lstStyle>
          <a:p>
            <a:pPr/>
            <a:r>
              <a:t>2025.11.27</a:t>
            </a:r>
          </a:p>
        </p:txBody>
      </p:sp>
      <p:sp>
        <p:nvSpPr>
          <p:cNvPr id="345" name="AutoShape 8"/>
          <p:cNvSpPr/>
          <p:nvPr/>
        </p:nvSpPr>
        <p:spPr>
          <a:xfrm>
            <a:off x="507221" y="9779778"/>
            <a:ext cx="17254508" cy="1"/>
          </a:xfrm>
          <a:prstGeom prst="line">
            <a:avLst/>
          </a:prstGeom>
          <a:ln>
            <a:solidFill>
              <a:srgbClr val="FAFAFA"/>
            </a:solidFill>
          </a:ln>
        </p:spPr>
        <p:txBody>
          <a:bodyPr lIns="45719" rIns="45719"/>
          <a:lstStyle/>
          <a:p>
            <a:pPr>
              <a:lnSpc>
                <a:spcPct val="100000"/>
              </a:lnSpc>
              <a:defRPr sz="18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ts val="28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Source Han Sans KR"/>
            <a:ea typeface="Source Han Sans KR"/>
            <a:cs typeface="Source Han Sans KR"/>
            <a:sym typeface="Source Han Sans K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ts val="28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Source Han Sans KR"/>
            <a:ea typeface="Source Han Sans KR"/>
            <a:cs typeface="Source Han Sans KR"/>
            <a:sym typeface="Source Han Sans K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